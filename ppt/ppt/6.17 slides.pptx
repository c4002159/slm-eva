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6" r:id="rId6"/>
    <p:sldId id="260" r:id="rId7"/>
    <p:sldId id="261" r:id="rId8"/>
    <p:sldId id="267" r:id="rId9"/>
    <p:sldId id="268" r:id="rId10"/>
    <p:sldId id="262" r:id="rId11"/>
    <p:sldId id="264" r:id="rId12"/>
    <p:sldId id="263"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677"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4479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Dr Szydlo. Thank you for your time today. My name is Runnan Feng, and this is a progress update on my MSc project. The project focuses on evaluating small language models for local deployment — covering capability, performance, and resource efficiency. Today I want to walk you through what has changed since our last meeting, why I made those changes, and where the project stands right now.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our last meeting, I have made six changes to the evaluation design. The most important one is splitting the evaluation into two tracks — capability and performance — because I discovered that using standard benchmarks like MMLU for performance measurement gives meaningless results. I also replaced my hand-written accuracy parser with the lm-evaluation-harness tool, switched energy measurement to CodeCarbon, added tool-calling evaluation, and removed the quantisation experiment to keep the scope manageable. I will explain the reasoning behind each of these decisions on the next few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behind most of these changes is this: standard accuracy benchmarks produce single-token outputs, which makes them completely unsuitable for performance measurement. The prefill phase — just reading the prompt — takes up 98% of the total time, so all models look the same. That is why I created the LDWS dataset with prompts that produce 50 to 200 output tokens. For CodeCarbon, the calculation is actually identical to my old TDP formula on Windows — but CodeCarbon has a published paper I can cite, which is academically much stronger. And lm-evaluation-harness gives me results that are directly comparable to GPT-4 benchmark scores in published papers.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LDWS dataset design. I chose to mix four publicly available datasets to cover both different task types and different input lengths. This matters because different task types stress different parts of the model, and different input lengths have very different effects on latency and energy. Using a single dataset would systematically favour one type of model. All four datasets have peer-reviewed academic citations, and sampling uses seed 42 so results are fully reproducible. Fifty prompts times three runs gives 150 measurements per configuration, which is sufficient for all the statistical tests I plan to run.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29A1F-1824-7C52-56A7-DB7D4C458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F91D9-86F1-6870-F803-67424BA23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A09ADC-113D-86CD-AEF9-79F2768FAE87}"/>
              </a:ext>
            </a:extLst>
          </p:cNvPr>
          <p:cNvSpPr>
            <a:spLocks noGrp="1"/>
          </p:cNvSpPr>
          <p:nvPr>
            <p:ph type="body" idx="1"/>
          </p:nvPr>
        </p:nvSpPr>
        <p:spPr/>
        <p:txBody>
          <a:bodyPr/>
          <a:lstStyle/>
          <a:p>
            <a:r>
              <a:rPr lang="en-US" dirty="0"/>
              <a:t>This slide explains the LDWS dataset design. I chose to mix four publicly available datasets to cover both different task types and different input lengths. This matters because different task types stress different parts of the model, and different input lengths have very different effects on latency and energy. Using a single dataset would systematically favour one type of model. All four datasets have peer-reviewed academic citations, and sampling uses seed 42 so results are fully reproducible. Fifty prompts times three runs gives 150 measurements per configuration, which is sufficient for all the statistical tests I plan to run.</a:t>
            </a:r>
          </a:p>
        </p:txBody>
      </p:sp>
      <p:sp>
        <p:nvSpPr>
          <p:cNvPr id="4" name="Slide Number Placeholder 3">
            <a:extLst>
              <a:ext uri="{FF2B5EF4-FFF2-40B4-BE49-F238E27FC236}">
                <a16:creationId xmlns:a16="http://schemas.microsoft.com/office/drawing/2014/main" id="{90BE4AB0-00D7-25F1-3E59-725782C2CE7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885623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complete evaluation pipeline with five steps. Step one — preparation — is already done. All five models are installed and the LDWS prompt file is ready. Step two is the performance experiment using benchmark_eval.py. The test run was successful — I will show you preliminary data in a moment. The full three-run experiment is ready to start. Step three is accuracy evaluation using lm-evaluation-harness, and step four is tool-calling evaluation using BFCL — both are pending. Finally, step five is analysis and visualisation, which will feed directly into my dissertation Results and Discussion chapters.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benchmarking script collects data on four layers simultaneously. The first layer uses Ollama's internal API fields for high-precision timing — this gives us TTFT, decode speed, and prefill speed. The second layer runs a background thread that samples CPU, RAM, and GPU every 50 milliseconds without disturbing the inference. Crucially, it monitors both Ollama processes — the main process and the model-loading subprocess. The third layer uses CodeCarbon at the session level, not per-request, because CodeCarbon's initialisation overhead would distort measurements for fast small models. The fourth layer is a derived calculation — the degradation rate — which I compute after all 50 prompts are done, comparing each request's latency to the median of the first five. This tells us whether the model slows down under sustained load.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B7E92-E836-1E04-17D7-6D67032B8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B85B0-A03F-C72B-34C6-E0E382415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526A4-5993-79DB-8C8C-C551454A8E48}"/>
              </a:ext>
            </a:extLst>
          </p:cNvPr>
          <p:cNvSpPr>
            <a:spLocks noGrp="1"/>
          </p:cNvSpPr>
          <p:nvPr>
            <p:ph type="body" idx="1"/>
          </p:nvPr>
        </p:nvSpPr>
        <p:spPr/>
        <p:txBody>
          <a:bodyPr/>
          <a:lstStyle/>
          <a:p>
            <a:r>
              <a:rPr lang="en-US" dirty="0"/>
              <a:t>The performance benchmarking script collects data on four layers simultaneously. The first layer uses Ollama's internal API fields for high-precision timing — this gives us TTFT, decode speed, and prefill speed. The second layer runs a background thread that samples CPU, RAM, and GPU every 50 milliseconds without disturbing the inference. Crucially, it monitors both Ollama processes — the main process and the model-loading subprocess. The third layer uses CodeCarbon at the session level, not per-request, because CodeCarbon's initialisation overhead would distort measurements for fast small models. The fourth layer is a derived calculation — the degradation rate — which I compute after all 50 prompts are done, comparing each request's latency to the median of the first five. This tells us whether the model slows down under sustained load.</a:t>
            </a:r>
          </a:p>
        </p:txBody>
      </p:sp>
      <p:sp>
        <p:nvSpPr>
          <p:cNvPr id="4" name="Slide Number Placeholder 3">
            <a:extLst>
              <a:ext uri="{FF2B5EF4-FFF2-40B4-BE49-F238E27FC236}">
                <a16:creationId xmlns:a16="http://schemas.microsoft.com/office/drawing/2014/main" id="{AEDC186F-BA20-E66B-CD67-7E7F0B52206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429333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F1E52-3148-EEDF-D4C9-A224D2EB4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E29CF-3F7C-D2CE-7D13-41FE0B8750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392F9-E37C-0DEF-53B0-5FEE73777EF7}"/>
              </a:ext>
            </a:extLst>
          </p:cNvPr>
          <p:cNvSpPr>
            <a:spLocks noGrp="1"/>
          </p:cNvSpPr>
          <p:nvPr>
            <p:ph type="body" idx="1"/>
          </p:nvPr>
        </p:nvSpPr>
        <p:spPr/>
        <p:txBody>
          <a:bodyPr/>
          <a:lstStyle/>
          <a:p>
            <a:r>
              <a:rPr lang="en-US" dirty="0"/>
              <a:t>I have designed three workload scenarios to simulate realistic deployment conditions. Serial is the baseline with a small gap between requests. High Load has no gap and is designed to reveal thermal throttling effects. Concurrent sends four simultaneous requests to simulate multiple users. To ensure the results are trustworthy and reproducible, I have implemented six rigour controls. Temperature is set to zero for deterministic output. I use warmup requests to eliminate JIT effects. I measure idle baseline to subtract background energy. Outliers are flagged using Z-score. Everything is run three times for statistical testing. And the script supports resuming from any interrupted point without losing data.</a:t>
            </a:r>
          </a:p>
        </p:txBody>
      </p:sp>
      <p:sp>
        <p:nvSpPr>
          <p:cNvPr id="4" name="Slide Number Placeholder 3">
            <a:extLst>
              <a:ext uri="{FF2B5EF4-FFF2-40B4-BE49-F238E27FC236}">
                <a16:creationId xmlns:a16="http://schemas.microsoft.com/office/drawing/2014/main" id="{529F727A-52FE-5FBD-0A25-3A57699770F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70863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designed three workload scenarios to simulate realistic deployment conditions. Serial is the baseline with a small gap between requests. High Load has no gap and is designed to reveal thermal throttling effects. Concurrent sends four simultaneous requests to simulate multiple users. To ensure the results are trustworthy and reproducible, I have implemented six rigour controls. Temperature is set to zero for deterministic output. I use warmup requests to eliminate JIT effects. I measure idle baseline to subtract background energy. Outliers are flagged using Z-score. Everything is run three times for statistical testing. And the script supports resuming from any interrupted point without losing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data from a single validation run of the serial scenario — this is not the formal result. The purpose was to confirm the script is working correctly. One interesting observation is that TinyLlama at 1.1B is actually faster than Qwen at 0.5B, which suggests that parameter count is not the only factor determining latency — model architecture also matters. The Phi-3 RAM figure of 0.66 GB is unusually low, and this is a known limitation of the device detection method — the model was misclassified during GPU switching, so RAM only shows CPU-side memory. I will document this as a limitation in the methodology chapter. The full experiment with three runs across all three scenarios is ready to run.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 calling is a capability I added as a sub-dimension of the overall Capability evaluation. The reason is simple: in agentic applications, the model must generate a structured function call, and if it cannot produce valid JSON, it is not deployable in that context. The evaluation is static — I give the model a question and a tool schema, and I check whether the output is a correct function call. No real tools are executed. I will use the BFCL dataset, which is the standard benchmark for this. I expect that the 0.5B and 1.1B models will struggle to produce valid JSON at all, which itself is an interesting finding about the minimum parameter scale needed for agentic capability.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next steps. This week I will run the full benchmark_eval.py experiment — it takes about three to four hours, so I plan to let it run overnight. Next week I will run lm-evaluation-harness for accuracy scores and develop the BFCL tool-calling evaluation script. After that, I will do the analysis, write the Methodology and Results chapters, and explore LoRA fine-tuning if time allows. My submission deadline is August 10th. I am on track, and I am confident the experimental framework is solid. Do you have any questions or suggestions?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1810"/>
        </a:solidFill>
        <a:effectLst/>
      </p:bgPr>
    </p:bg>
    <p:spTree>
      <p:nvGrpSpPr>
        <p:cNvPr id="1" name=""/>
        <p:cNvGrpSpPr/>
        <p:nvPr/>
      </p:nvGrpSpPr>
      <p:grpSpPr>
        <a:xfrm>
          <a:off x="0" y="0"/>
          <a:ext cx="0" cy="0"/>
          <a:chOff x="0" y="0"/>
          <a:chExt cx="0" cy="0"/>
        </a:xfrm>
      </p:grpSpPr>
      <p:sp>
        <p:nvSpPr>
          <p:cNvPr id="2" name="Shape 0"/>
          <p:cNvSpPr/>
          <p:nvPr/>
        </p:nvSpPr>
        <p:spPr>
          <a:xfrm>
            <a:off x="6583680" y="-731520"/>
            <a:ext cx="3840480" cy="3840480"/>
          </a:xfrm>
          <a:prstGeom prst="ellipse">
            <a:avLst/>
          </a:prstGeom>
          <a:solidFill>
            <a:srgbClr val="B85042">
              <a:alpha val="25000"/>
            </a:srgbClr>
          </a:solidFill>
          <a:ln w="12700">
            <a:solidFill>
              <a:srgbClr val="B85042">
                <a:alpha val="25000"/>
              </a:srgbClr>
            </a:solidFill>
            <a:prstDash val="solid"/>
          </a:ln>
        </p:spPr>
        <p:txBody>
          <a:bodyPr/>
          <a:lstStyle/>
          <a:p>
            <a:endParaRPr lang="zh-CN" altLang="en-US"/>
          </a:p>
        </p:txBody>
      </p:sp>
      <p:sp>
        <p:nvSpPr>
          <p:cNvPr id="3" name="Shape 1"/>
          <p:cNvSpPr/>
          <p:nvPr/>
        </p:nvSpPr>
        <p:spPr>
          <a:xfrm>
            <a:off x="-914400" y="3200400"/>
            <a:ext cx="2743200" cy="2743200"/>
          </a:xfrm>
          <a:prstGeom prst="ellipse">
            <a:avLst/>
          </a:prstGeom>
          <a:solidFill>
            <a:srgbClr val="D4813A">
              <a:alpha val="18000"/>
            </a:srgbClr>
          </a:solidFill>
          <a:ln w="12700">
            <a:solidFill>
              <a:srgbClr val="D4813A">
                <a:alpha val="18000"/>
              </a:srgbClr>
            </a:solidFill>
            <a:prstDash val="solid"/>
          </a:ln>
        </p:spPr>
        <p:txBody>
          <a:bodyPr/>
          <a:lstStyle/>
          <a:p>
            <a:endParaRPr lang="zh-CN" altLang="en-US"/>
          </a:p>
        </p:txBody>
      </p:sp>
      <p:sp>
        <p:nvSpPr>
          <p:cNvPr id="4" name="Text 2"/>
          <p:cNvSpPr/>
          <p:nvPr/>
        </p:nvSpPr>
        <p:spPr>
          <a:xfrm>
            <a:off x="548640" y="914400"/>
            <a:ext cx="7772400" cy="777240"/>
          </a:xfrm>
          <a:prstGeom prst="rect">
            <a:avLst/>
          </a:prstGeom>
          <a:noFill/>
          <a:ln/>
        </p:spPr>
        <p:txBody>
          <a:bodyPr wrap="square" rtlCol="0" anchor="ctr"/>
          <a:lstStyle/>
          <a:p>
            <a:pPr marL="0" indent="0" algn="l">
              <a:buNone/>
            </a:pPr>
            <a:r>
              <a:rPr lang="en-US" sz="4400" b="1" dirty="0">
                <a:solidFill>
                  <a:srgbClr val="F7F3EE"/>
                </a:solidFill>
                <a:latin typeface="Cambria" pitchFamily="34" charset="0"/>
                <a:ea typeface="Cambria" pitchFamily="34" charset="-122"/>
                <a:cs typeface="Cambria" pitchFamily="34" charset="-120"/>
              </a:rPr>
              <a:t>SLM Evaluation</a:t>
            </a:r>
            <a:endParaRPr lang="en-US" sz="4400" dirty="0"/>
          </a:p>
        </p:txBody>
      </p:sp>
      <p:sp>
        <p:nvSpPr>
          <p:cNvPr id="5" name="Text 3"/>
          <p:cNvSpPr/>
          <p:nvPr/>
        </p:nvSpPr>
        <p:spPr>
          <a:xfrm>
            <a:off x="548640" y="1691640"/>
            <a:ext cx="7772400" cy="502920"/>
          </a:xfrm>
          <a:prstGeom prst="rect">
            <a:avLst/>
          </a:prstGeom>
          <a:noFill/>
          <a:ln/>
        </p:spPr>
        <p:txBody>
          <a:bodyPr wrap="square" rtlCol="0" anchor="ctr"/>
          <a:lstStyle/>
          <a:p>
            <a:pPr marL="0" indent="0" algn="l">
              <a:buNone/>
            </a:pPr>
            <a:r>
              <a:rPr lang="en-US" sz="2200" dirty="0">
                <a:solidFill>
                  <a:srgbClr val="F0C080"/>
                </a:solidFill>
                <a:latin typeface="Cambria" pitchFamily="34" charset="0"/>
                <a:ea typeface="Cambria" pitchFamily="34" charset="-122"/>
                <a:cs typeface="Cambria" pitchFamily="34" charset="-120"/>
              </a:rPr>
              <a:t>Progress Update — Methodology &amp; Initial Results</a:t>
            </a:r>
            <a:endParaRPr lang="en-US" sz="2200" dirty="0"/>
          </a:p>
        </p:txBody>
      </p:sp>
      <p:sp>
        <p:nvSpPr>
          <p:cNvPr id="6" name="Shape 4"/>
          <p:cNvSpPr/>
          <p:nvPr/>
        </p:nvSpPr>
        <p:spPr>
          <a:xfrm>
            <a:off x="548640" y="2331720"/>
            <a:ext cx="3200400" cy="27432"/>
          </a:xfrm>
          <a:prstGeom prst="rect">
            <a:avLst/>
          </a:prstGeom>
          <a:solidFill>
            <a:srgbClr val="D4813A"/>
          </a:solidFill>
          <a:ln w="12700">
            <a:solidFill>
              <a:srgbClr val="D4813A"/>
            </a:solidFill>
            <a:prstDash val="solid"/>
          </a:ln>
        </p:spPr>
        <p:txBody>
          <a:bodyPr/>
          <a:lstStyle/>
          <a:p>
            <a:endParaRPr lang="zh-CN" altLang="en-US"/>
          </a:p>
        </p:txBody>
      </p:sp>
      <p:sp>
        <p:nvSpPr>
          <p:cNvPr id="7" name="Text 5"/>
          <p:cNvSpPr/>
          <p:nvPr/>
        </p:nvSpPr>
        <p:spPr>
          <a:xfrm>
            <a:off x="548640" y="2514600"/>
            <a:ext cx="7772400" cy="1097280"/>
          </a:xfrm>
          <a:prstGeom prst="rect">
            <a:avLst/>
          </a:prstGeom>
          <a:noFill/>
          <a:ln/>
        </p:spPr>
        <p:txBody>
          <a:bodyPr wrap="square" rtlCol="0" anchor="ctr"/>
          <a:lstStyle/>
          <a:p>
            <a:pPr marL="0" indent="0" algn="l">
              <a:buNone/>
            </a:pPr>
            <a:r>
              <a:rPr lang="en-US" sz="1400" dirty="0">
                <a:solidFill>
                  <a:srgbClr val="8C7B6B"/>
                </a:solidFill>
                <a:latin typeface="Calibri" pitchFamily="34" charset="0"/>
                <a:ea typeface="Calibri" pitchFamily="34" charset="-122"/>
                <a:cs typeface="Calibri" pitchFamily="34" charset="-120"/>
              </a:rPr>
              <a:t>Runnan Feng  ·  MSc Computer Science</a:t>
            </a:r>
            <a:endParaRPr lang="en-US" sz="1400" dirty="0"/>
          </a:p>
          <a:p>
            <a:pPr marL="0" indent="0" algn="l">
              <a:buNone/>
            </a:pPr>
            <a:r>
              <a:rPr lang="en-US" sz="1400" dirty="0">
                <a:solidFill>
                  <a:srgbClr val="8C7B6B"/>
                </a:solidFill>
                <a:latin typeface="Calibri" pitchFamily="34" charset="0"/>
                <a:ea typeface="Calibri" pitchFamily="34" charset="-122"/>
                <a:cs typeface="Calibri" pitchFamily="34" charset="-120"/>
              </a:rPr>
              <a:t>Supervisor: Dr Tomasz Szydlo  ·  Newcastle University</a:t>
            </a:r>
            <a:endParaRPr lang="en-US" sz="1400" dirty="0"/>
          </a:p>
          <a:p>
            <a:pPr marL="0" indent="0" algn="l">
              <a:buNone/>
            </a:pPr>
            <a:r>
              <a:rPr lang="en-US" sz="1400" dirty="0">
                <a:solidFill>
                  <a:srgbClr val="8C7B6B"/>
                </a:solidFill>
                <a:latin typeface="Calibri" pitchFamily="34" charset="0"/>
                <a:ea typeface="Calibri" pitchFamily="34" charset="-122"/>
                <a:cs typeface="Calibri" pitchFamily="34" charset="-120"/>
              </a:rPr>
              <a:t>June 2026</a:t>
            </a:r>
            <a:endParaRPr lang="en-US" sz="1400" dirty="0"/>
          </a:p>
        </p:txBody>
      </p:sp>
      <p:sp>
        <p:nvSpPr>
          <p:cNvPr id="8" name="Text 6"/>
          <p:cNvSpPr/>
          <p:nvPr/>
        </p:nvSpPr>
        <p:spPr>
          <a:xfrm>
            <a:off x="548640" y="4114800"/>
            <a:ext cx="8046720" cy="457200"/>
          </a:xfrm>
          <a:prstGeom prst="rect">
            <a:avLst/>
          </a:prstGeom>
          <a:noFill/>
          <a:ln/>
        </p:spPr>
        <p:txBody>
          <a:bodyPr wrap="square" rtlCol="0" anchor="ctr"/>
          <a:lstStyle/>
          <a:p>
            <a:pPr marL="0" indent="0" algn="l">
              <a:buNone/>
            </a:pPr>
            <a:r>
              <a:rPr lang="en-US" sz="1200" i="1" dirty="0">
                <a:solidFill>
                  <a:srgbClr val="E8DCC8"/>
                </a:solidFill>
                <a:latin typeface="Calibri" pitchFamily="34" charset="0"/>
                <a:ea typeface="Calibri" pitchFamily="34" charset="-122"/>
                <a:cs typeface="Calibri" pitchFamily="34" charset="-120"/>
              </a:rPr>
              <a:t>Project: Evaluating Small Language Models for Resource-Constrained Local Deployment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411480" y="164592"/>
            <a:ext cx="8732520" cy="566928"/>
          </a:xfrm>
          <a:prstGeom prst="rect">
            <a:avLst/>
          </a:prstGeom>
          <a:noFill/>
          <a:ln/>
        </p:spPr>
        <p:txBody>
          <a:bodyPr wrap="square" lIns="0" tIns="0" rIns="0" bIns="0" rtlCol="0" anchor="ctr"/>
          <a:lstStyle/>
          <a:p>
            <a:pPr marL="0" indent="0" algn="l">
              <a:buNone/>
            </a:pPr>
            <a:r>
              <a:rPr lang="en-US" altLang="zh-CN" sz="3000" b="1" dirty="0">
                <a:solidFill>
                  <a:srgbClr val="B85042"/>
                </a:solidFill>
                <a:latin typeface="Cambria" pitchFamily="34" charset="0"/>
                <a:ea typeface="Cambria" pitchFamily="34" charset="-122"/>
              </a:rPr>
              <a:t>Six core upgrades since the last meeting</a:t>
            </a:r>
            <a:endParaRPr lang="en-US" sz="3000" b="1" dirty="0">
              <a:solidFill>
                <a:srgbClr val="B85042"/>
              </a:solidFill>
              <a:latin typeface="Cambria" pitchFamily="34" charset="0"/>
              <a:ea typeface="Cambria" pitchFamily="34" charset="-122"/>
            </a:endParaRPr>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Shape 2"/>
          <p:cNvSpPr/>
          <p:nvPr/>
        </p:nvSpPr>
        <p:spPr>
          <a:xfrm>
            <a:off x="411480" y="914400"/>
            <a:ext cx="8321040" cy="566928"/>
          </a:xfrm>
          <a:prstGeom prst="roundRect">
            <a:avLst>
              <a:gd name="adj" fmla="val 12903"/>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5" name="Shape 3"/>
          <p:cNvSpPr/>
          <p:nvPr/>
        </p:nvSpPr>
        <p:spPr>
          <a:xfrm>
            <a:off x="457200" y="1051560"/>
            <a:ext cx="274320" cy="292608"/>
          </a:xfrm>
          <a:prstGeom prst="roundRect">
            <a:avLst>
              <a:gd name="adj" fmla="val 20000"/>
            </a:avLst>
          </a:prstGeom>
          <a:solidFill>
            <a:srgbClr val="B85042"/>
          </a:solidFill>
          <a:ln w="12700">
            <a:solidFill>
              <a:srgbClr val="B85042"/>
            </a:solidFill>
            <a:prstDash val="solid"/>
          </a:ln>
        </p:spPr>
        <p:txBody>
          <a:bodyPr/>
          <a:lstStyle/>
          <a:p>
            <a:endParaRPr lang="zh-CN" altLang="en-US"/>
          </a:p>
        </p:txBody>
      </p:sp>
      <p:sp>
        <p:nvSpPr>
          <p:cNvPr id="6" name="Text 4"/>
          <p:cNvSpPr/>
          <p:nvPr/>
        </p:nvSpPr>
        <p:spPr>
          <a:xfrm>
            <a:off x="457200" y="1051560"/>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795528" y="914400"/>
            <a:ext cx="1691640" cy="566928"/>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Dual-Track Evaluation</a:t>
            </a:r>
            <a:endParaRPr lang="en-US" sz="1200" dirty="0"/>
          </a:p>
        </p:txBody>
      </p:sp>
      <p:sp>
        <p:nvSpPr>
          <p:cNvPr id="8" name="Text 6"/>
          <p:cNvSpPr/>
          <p:nvPr/>
        </p:nvSpPr>
        <p:spPr>
          <a:xfrm>
            <a:off x="2532888" y="914400"/>
            <a:ext cx="6172200" cy="566928"/>
          </a:xfrm>
          <a:prstGeom prst="rect">
            <a:avLst/>
          </a:prstGeom>
          <a:noFill/>
          <a:ln/>
        </p:spPr>
        <p:txBody>
          <a:bodyPr wrap="square" lIns="0" tIns="0" rIns="0" bIns="0" rtlCol="0" anchor="ctr"/>
          <a:lstStyle/>
          <a:p>
            <a:pPr marL="0" indent="0">
              <a:buNone/>
            </a:pPr>
            <a:r>
              <a:rPr lang="en-US" sz="1150" dirty="0">
                <a:solidFill>
                  <a:srgbClr val="5C4A3A"/>
                </a:solidFill>
                <a:latin typeface="Calibri" pitchFamily="34" charset="0"/>
                <a:ea typeface="Calibri" pitchFamily="34" charset="-122"/>
                <a:cs typeface="Calibri" pitchFamily="34" charset="-120"/>
              </a:rPr>
              <a:t>Single script → Capability track (lm-eval) + Performance track (custom script)</a:t>
            </a:r>
            <a:endParaRPr lang="en-US" sz="1150" dirty="0"/>
          </a:p>
        </p:txBody>
      </p:sp>
      <p:sp>
        <p:nvSpPr>
          <p:cNvPr id="9" name="Shape 7"/>
          <p:cNvSpPr/>
          <p:nvPr/>
        </p:nvSpPr>
        <p:spPr>
          <a:xfrm>
            <a:off x="411480" y="1536192"/>
            <a:ext cx="8321040" cy="566928"/>
          </a:xfrm>
          <a:prstGeom prst="roundRect">
            <a:avLst>
              <a:gd name="adj" fmla="val 12903"/>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0" name="Shape 8"/>
          <p:cNvSpPr/>
          <p:nvPr/>
        </p:nvSpPr>
        <p:spPr>
          <a:xfrm>
            <a:off x="457200" y="1673352"/>
            <a:ext cx="274320" cy="292608"/>
          </a:xfrm>
          <a:prstGeom prst="roundRect">
            <a:avLst>
              <a:gd name="adj" fmla="val 20000"/>
            </a:avLst>
          </a:prstGeom>
          <a:solidFill>
            <a:srgbClr val="B85042"/>
          </a:solidFill>
          <a:ln w="12700">
            <a:solidFill>
              <a:srgbClr val="B85042"/>
            </a:solidFill>
            <a:prstDash val="solid"/>
          </a:ln>
        </p:spPr>
        <p:txBody>
          <a:bodyPr/>
          <a:lstStyle/>
          <a:p>
            <a:endParaRPr lang="zh-CN" altLang="en-US"/>
          </a:p>
        </p:txBody>
      </p:sp>
      <p:sp>
        <p:nvSpPr>
          <p:cNvPr id="11" name="Text 9"/>
          <p:cNvSpPr/>
          <p:nvPr/>
        </p:nvSpPr>
        <p:spPr>
          <a:xfrm>
            <a:off x="457200" y="1673352"/>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795528" y="1536192"/>
            <a:ext cx="1691640" cy="566928"/>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Accuracy Tool</a:t>
            </a:r>
            <a:endParaRPr lang="en-US" sz="1200" dirty="0"/>
          </a:p>
        </p:txBody>
      </p:sp>
      <p:sp>
        <p:nvSpPr>
          <p:cNvPr id="13" name="Text 11"/>
          <p:cNvSpPr/>
          <p:nvPr/>
        </p:nvSpPr>
        <p:spPr>
          <a:xfrm>
            <a:off x="2532888" y="1536192"/>
            <a:ext cx="6172200" cy="566928"/>
          </a:xfrm>
          <a:prstGeom prst="rect">
            <a:avLst/>
          </a:prstGeom>
          <a:noFill/>
          <a:ln/>
        </p:spPr>
        <p:txBody>
          <a:bodyPr wrap="square" lIns="0" tIns="0" rIns="0" bIns="0" rtlCol="0" anchor="ctr"/>
          <a:lstStyle/>
          <a:p>
            <a:pPr marL="0" indent="0">
              <a:buNone/>
            </a:pPr>
            <a:r>
              <a:rPr lang="en-US" sz="1150" dirty="0">
                <a:solidFill>
                  <a:srgbClr val="5C4A3A"/>
                </a:solidFill>
                <a:latin typeface="Calibri" pitchFamily="34" charset="0"/>
                <a:ea typeface="Calibri" pitchFamily="34" charset="-122"/>
                <a:cs typeface="Calibri" pitchFamily="34" charset="-120"/>
              </a:rPr>
              <a:t>Hand-written parser → lm-evaluation-harness (EleutherAI open-source standard)</a:t>
            </a:r>
            <a:endParaRPr lang="en-US" sz="1150" dirty="0"/>
          </a:p>
        </p:txBody>
      </p:sp>
      <p:sp>
        <p:nvSpPr>
          <p:cNvPr id="14" name="Shape 12"/>
          <p:cNvSpPr/>
          <p:nvPr/>
        </p:nvSpPr>
        <p:spPr>
          <a:xfrm>
            <a:off x="411480" y="2157984"/>
            <a:ext cx="8321040" cy="566928"/>
          </a:xfrm>
          <a:prstGeom prst="roundRect">
            <a:avLst>
              <a:gd name="adj" fmla="val 12903"/>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5" name="Shape 13"/>
          <p:cNvSpPr/>
          <p:nvPr/>
        </p:nvSpPr>
        <p:spPr>
          <a:xfrm>
            <a:off x="457200" y="2295144"/>
            <a:ext cx="274320" cy="292608"/>
          </a:xfrm>
          <a:prstGeom prst="roundRect">
            <a:avLst>
              <a:gd name="adj" fmla="val 20000"/>
            </a:avLst>
          </a:prstGeom>
          <a:solidFill>
            <a:srgbClr val="B85042"/>
          </a:solidFill>
          <a:ln w="12700">
            <a:solidFill>
              <a:srgbClr val="B85042"/>
            </a:solidFill>
            <a:prstDash val="solid"/>
          </a:ln>
        </p:spPr>
        <p:txBody>
          <a:bodyPr/>
          <a:lstStyle/>
          <a:p>
            <a:endParaRPr lang="zh-CN" altLang="en-US"/>
          </a:p>
        </p:txBody>
      </p:sp>
      <p:sp>
        <p:nvSpPr>
          <p:cNvPr id="16" name="Text 14"/>
          <p:cNvSpPr/>
          <p:nvPr/>
        </p:nvSpPr>
        <p:spPr>
          <a:xfrm>
            <a:off x="457200" y="2295144"/>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795528" y="2157984"/>
            <a:ext cx="1691640" cy="566928"/>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Performance Dataset</a:t>
            </a:r>
            <a:endParaRPr lang="en-US" sz="1200" dirty="0"/>
          </a:p>
        </p:txBody>
      </p:sp>
      <p:sp>
        <p:nvSpPr>
          <p:cNvPr id="18" name="Text 16"/>
          <p:cNvSpPr/>
          <p:nvPr/>
        </p:nvSpPr>
        <p:spPr>
          <a:xfrm>
            <a:off x="2532888" y="2157984"/>
            <a:ext cx="6172200" cy="566928"/>
          </a:xfrm>
          <a:prstGeom prst="rect">
            <a:avLst/>
          </a:prstGeom>
          <a:noFill/>
          <a:ln/>
        </p:spPr>
        <p:txBody>
          <a:bodyPr wrap="square" lIns="0" tIns="0" rIns="0" bIns="0" rtlCol="0" anchor="ctr"/>
          <a:lstStyle/>
          <a:p>
            <a:pPr marL="0" indent="0">
              <a:buNone/>
            </a:pPr>
            <a:r>
              <a:rPr lang="en-US" sz="1150" dirty="0">
                <a:solidFill>
                  <a:srgbClr val="5C4A3A"/>
                </a:solidFill>
                <a:latin typeface="Calibri" pitchFamily="34" charset="0"/>
                <a:ea typeface="Calibri" pitchFamily="34" charset="-122"/>
                <a:cs typeface="Calibri" pitchFamily="34" charset="-120"/>
              </a:rPr>
              <a:t>Used same benchmarks for accuracy &amp; performance → Custom LDWS prompt set for performance</a:t>
            </a:r>
            <a:endParaRPr lang="en-US" sz="1150" dirty="0"/>
          </a:p>
        </p:txBody>
      </p:sp>
      <p:sp>
        <p:nvSpPr>
          <p:cNvPr id="19" name="Shape 17"/>
          <p:cNvSpPr/>
          <p:nvPr/>
        </p:nvSpPr>
        <p:spPr>
          <a:xfrm>
            <a:off x="411480" y="2779776"/>
            <a:ext cx="8321040" cy="566928"/>
          </a:xfrm>
          <a:prstGeom prst="roundRect">
            <a:avLst>
              <a:gd name="adj" fmla="val 12903"/>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20" name="Shape 18"/>
          <p:cNvSpPr/>
          <p:nvPr/>
        </p:nvSpPr>
        <p:spPr>
          <a:xfrm>
            <a:off x="457200" y="2916936"/>
            <a:ext cx="274320" cy="292608"/>
          </a:xfrm>
          <a:prstGeom prst="roundRect">
            <a:avLst>
              <a:gd name="adj" fmla="val 20000"/>
            </a:avLst>
          </a:prstGeom>
          <a:solidFill>
            <a:srgbClr val="B85042"/>
          </a:solidFill>
          <a:ln w="12700">
            <a:solidFill>
              <a:srgbClr val="B85042"/>
            </a:solidFill>
            <a:prstDash val="solid"/>
          </a:ln>
        </p:spPr>
        <p:txBody>
          <a:bodyPr/>
          <a:lstStyle/>
          <a:p>
            <a:endParaRPr lang="zh-CN" altLang="en-US"/>
          </a:p>
        </p:txBody>
      </p:sp>
      <p:sp>
        <p:nvSpPr>
          <p:cNvPr id="21" name="Text 19"/>
          <p:cNvSpPr/>
          <p:nvPr/>
        </p:nvSpPr>
        <p:spPr>
          <a:xfrm>
            <a:off x="457200" y="2916936"/>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Text 20"/>
          <p:cNvSpPr/>
          <p:nvPr/>
        </p:nvSpPr>
        <p:spPr>
          <a:xfrm>
            <a:off x="795528" y="2779776"/>
            <a:ext cx="1691640" cy="566928"/>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Energy Measurement</a:t>
            </a:r>
            <a:endParaRPr lang="en-US" sz="1200" dirty="0"/>
          </a:p>
        </p:txBody>
      </p:sp>
      <p:sp>
        <p:nvSpPr>
          <p:cNvPr id="23" name="Text 21"/>
          <p:cNvSpPr/>
          <p:nvPr/>
        </p:nvSpPr>
        <p:spPr>
          <a:xfrm>
            <a:off x="2532888" y="2779776"/>
            <a:ext cx="6172200" cy="566928"/>
          </a:xfrm>
          <a:prstGeom prst="rect">
            <a:avLst/>
          </a:prstGeom>
          <a:noFill/>
          <a:ln/>
        </p:spPr>
        <p:txBody>
          <a:bodyPr wrap="square" lIns="0" tIns="0" rIns="0" bIns="0" rtlCol="0" anchor="ctr"/>
          <a:lstStyle/>
          <a:p>
            <a:pPr marL="0" indent="0">
              <a:buNone/>
            </a:pPr>
            <a:r>
              <a:rPr lang="en-US" sz="1150" dirty="0">
                <a:solidFill>
                  <a:srgbClr val="5C4A3A"/>
                </a:solidFill>
                <a:latin typeface="Calibri" pitchFamily="34" charset="0"/>
                <a:ea typeface="Calibri" pitchFamily="34" charset="-122"/>
                <a:cs typeface="Calibri" pitchFamily="34" charset="-120"/>
              </a:rPr>
              <a:t>Manual TDP formula (CPU% × TDP × Δt) → CodeCarbon library with academic citation</a:t>
            </a:r>
            <a:endParaRPr lang="en-US" sz="1150" dirty="0"/>
          </a:p>
        </p:txBody>
      </p:sp>
      <p:sp>
        <p:nvSpPr>
          <p:cNvPr id="24" name="Shape 22"/>
          <p:cNvSpPr/>
          <p:nvPr/>
        </p:nvSpPr>
        <p:spPr>
          <a:xfrm>
            <a:off x="411480" y="3401568"/>
            <a:ext cx="8321040" cy="566928"/>
          </a:xfrm>
          <a:prstGeom prst="roundRect">
            <a:avLst>
              <a:gd name="adj" fmla="val 12903"/>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25" name="Shape 23"/>
          <p:cNvSpPr/>
          <p:nvPr/>
        </p:nvSpPr>
        <p:spPr>
          <a:xfrm>
            <a:off x="457200" y="3538728"/>
            <a:ext cx="274320" cy="292608"/>
          </a:xfrm>
          <a:prstGeom prst="roundRect">
            <a:avLst>
              <a:gd name="adj" fmla="val 20000"/>
            </a:avLst>
          </a:prstGeom>
          <a:solidFill>
            <a:srgbClr val="B85042"/>
          </a:solidFill>
          <a:ln w="12700">
            <a:solidFill>
              <a:srgbClr val="B85042"/>
            </a:solidFill>
            <a:prstDash val="solid"/>
          </a:ln>
        </p:spPr>
        <p:txBody>
          <a:bodyPr/>
          <a:lstStyle/>
          <a:p>
            <a:endParaRPr lang="zh-CN" altLang="en-US"/>
          </a:p>
        </p:txBody>
      </p:sp>
      <p:sp>
        <p:nvSpPr>
          <p:cNvPr id="26" name="Text 24"/>
          <p:cNvSpPr/>
          <p:nvPr/>
        </p:nvSpPr>
        <p:spPr>
          <a:xfrm>
            <a:off x="457200" y="3538728"/>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7" name="Text 25"/>
          <p:cNvSpPr/>
          <p:nvPr/>
        </p:nvSpPr>
        <p:spPr>
          <a:xfrm>
            <a:off x="795528" y="3401568"/>
            <a:ext cx="1691640" cy="566928"/>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Tool Calling Added</a:t>
            </a:r>
            <a:endParaRPr lang="en-US" sz="1200" dirty="0"/>
          </a:p>
        </p:txBody>
      </p:sp>
      <p:sp>
        <p:nvSpPr>
          <p:cNvPr id="28" name="Text 26"/>
          <p:cNvSpPr/>
          <p:nvPr/>
        </p:nvSpPr>
        <p:spPr>
          <a:xfrm>
            <a:off x="2532888" y="3401568"/>
            <a:ext cx="6172200" cy="566928"/>
          </a:xfrm>
          <a:prstGeom prst="rect">
            <a:avLst/>
          </a:prstGeom>
          <a:noFill/>
          <a:ln/>
        </p:spPr>
        <p:txBody>
          <a:bodyPr wrap="square" lIns="0" tIns="0" rIns="0" bIns="0" rtlCol="0" anchor="ctr"/>
          <a:lstStyle/>
          <a:p>
            <a:pPr marL="0" indent="0">
              <a:buNone/>
            </a:pPr>
            <a:r>
              <a:rPr lang="en-US" sz="1150" dirty="0">
                <a:solidFill>
                  <a:srgbClr val="5C4A3A"/>
                </a:solidFill>
                <a:latin typeface="Calibri" pitchFamily="34" charset="0"/>
                <a:ea typeface="Calibri" pitchFamily="34" charset="-122"/>
                <a:cs typeface="Calibri" pitchFamily="34" charset="-120"/>
              </a:rPr>
              <a:t>No tool-calling eval → BFCL benchmark added as Capability sub-dimension</a:t>
            </a:r>
            <a:endParaRPr lang="en-US" sz="1150" dirty="0"/>
          </a:p>
        </p:txBody>
      </p:sp>
      <p:sp>
        <p:nvSpPr>
          <p:cNvPr id="29" name="Shape 27"/>
          <p:cNvSpPr/>
          <p:nvPr/>
        </p:nvSpPr>
        <p:spPr>
          <a:xfrm>
            <a:off x="411480" y="4023360"/>
            <a:ext cx="8321040" cy="566928"/>
          </a:xfrm>
          <a:prstGeom prst="roundRect">
            <a:avLst>
              <a:gd name="adj" fmla="val 12903"/>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30" name="Shape 28"/>
          <p:cNvSpPr/>
          <p:nvPr/>
        </p:nvSpPr>
        <p:spPr>
          <a:xfrm>
            <a:off x="457200" y="4160520"/>
            <a:ext cx="274320" cy="292608"/>
          </a:xfrm>
          <a:prstGeom prst="roundRect">
            <a:avLst>
              <a:gd name="adj" fmla="val 20000"/>
            </a:avLst>
          </a:prstGeom>
          <a:solidFill>
            <a:srgbClr val="B85042"/>
          </a:solidFill>
          <a:ln w="12700">
            <a:solidFill>
              <a:srgbClr val="B85042"/>
            </a:solidFill>
            <a:prstDash val="solid"/>
          </a:ln>
        </p:spPr>
        <p:txBody>
          <a:bodyPr/>
          <a:lstStyle/>
          <a:p>
            <a:endParaRPr lang="zh-CN" altLang="en-US"/>
          </a:p>
        </p:txBody>
      </p:sp>
      <p:sp>
        <p:nvSpPr>
          <p:cNvPr id="31" name="Text 29"/>
          <p:cNvSpPr/>
          <p:nvPr/>
        </p:nvSpPr>
        <p:spPr>
          <a:xfrm>
            <a:off x="457200" y="4160520"/>
            <a:ext cx="27432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2" name="Text 30"/>
          <p:cNvSpPr/>
          <p:nvPr/>
        </p:nvSpPr>
        <p:spPr>
          <a:xfrm>
            <a:off x="795528" y="4023360"/>
            <a:ext cx="1691640" cy="566928"/>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Quantisation Removed</a:t>
            </a:r>
            <a:endParaRPr lang="en-US" sz="1200" dirty="0"/>
          </a:p>
        </p:txBody>
      </p:sp>
      <p:sp>
        <p:nvSpPr>
          <p:cNvPr id="33" name="Text 31"/>
          <p:cNvSpPr/>
          <p:nvPr/>
        </p:nvSpPr>
        <p:spPr>
          <a:xfrm>
            <a:off x="2532888" y="4023360"/>
            <a:ext cx="6172200" cy="566928"/>
          </a:xfrm>
          <a:prstGeom prst="rect">
            <a:avLst/>
          </a:prstGeom>
          <a:noFill/>
          <a:ln/>
        </p:spPr>
        <p:txBody>
          <a:bodyPr wrap="square" lIns="0" tIns="0" rIns="0" bIns="0" rtlCol="0" anchor="ctr"/>
          <a:lstStyle/>
          <a:p>
            <a:pPr marL="0" indent="0">
              <a:buNone/>
            </a:pPr>
            <a:r>
              <a:rPr lang="en-US" sz="1150" dirty="0">
                <a:solidFill>
                  <a:srgbClr val="5C4A3A"/>
                </a:solidFill>
                <a:latin typeface="Calibri" pitchFamily="34" charset="0"/>
                <a:ea typeface="Calibri" pitchFamily="34" charset="-122"/>
                <a:cs typeface="Calibri" pitchFamily="34" charset="-120"/>
              </a:rPr>
              <a:t>Planned FP16 vs INT8 comparison → Removed; focus on multi-model multi-scenario depth</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230358" y="328649"/>
            <a:ext cx="9049043" cy="566928"/>
          </a:xfrm>
          <a:prstGeom prst="rect">
            <a:avLst/>
          </a:prstGeom>
          <a:noFill/>
          <a:ln/>
        </p:spPr>
        <p:txBody>
          <a:bodyPr wrap="square" lIns="0" tIns="0" rIns="0" bIns="0" rtlCol="0" anchor="ctr"/>
          <a:lstStyle/>
          <a:p>
            <a:r>
              <a:rPr lang="en-US" sz="3000" b="1" dirty="0">
                <a:solidFill>
                  <a:srgbClr val="B85042"/>
                </a:solidFill>
                <a:latin typeface="Cambria" pitchFamily="34" charset="0"/>
                <a:ea typeface="Cambria" pitchFamily="34" charset="-122"/>
                <a:cs typeface="Cambria" pitchFamily="34" charset="-120"/>
              </a:rPr>
              <a:t>Core Reasons </a:t>
            </a:r>
            <a:r>
              <a:rPr lang="en-US" altLang="zh-CN" sz="3000" b="1" dirty="0">
                <a:solidFill>
                  <a:srgbClr val="B85042"/>
                </a:solidFill>
                <a:latin typeface="Cambria" pitchFamily="34" charset="0"/>
                <a:ea typeface="Cambria" pitchFamily="34" charset="-122"/>
              </a:rPr>
              <a:t>behind our framework adjustments</a:t>
            </a:r>
            <a:endParaRPr lang="zh-CN" altLang="zh-CN" sz="3000" b="1" dirty="0">
              <a:solidFill>
                <a:srgbClr val="B85042"/>
              </a:solidFill>
              <a:latin typeface="Cambria" pitchFamily="34" charset="0"/>
            </a:endParaRPr>
          </a:p>
          <a:p>
            <a:pPr marL="0" indent="0" algn="l">
              <a:buNone/>
            </a:pPr>
            <a:endParaRPr lang="en-US" sz="3000" dirty="0"/>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Shape 2"/>
          <p:cNvSpPr/>
          <p:nvPr/>
        </p:nvSpPr>
        <p:spPr>
          <a:xfrm>
            <a:off x="365760" y="914400"/>
            <a:ext cx="4297680" cy="3840480"/>
          </a:xfrm>
          <a:prstGeom prst="roundRect">
            <a:avLst>
              <a:gd name="adj" fmla="val 1905"/>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5" name="Text 3"/>
          <p:cNvSpPr/>
          <p:nvPr/>
        </p:nvSpPr>
        <p:spPr>
          <a:xfrm>
            <a:off x="457200" y="960120"/>
            <a:ext cx="4023360" cy="347472"/>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Why Dual-Track + LDWS Dataset?</a:t>
            </a:r>
            <a:endParaRPr lang="en-US" sz="1300" dirty="0"/>
          </a:p>
        </p:txBody>
      </p:sp>
      <p:sp>
        <p:nvSpPr>
          <p:cNvPr id="6" name="Text 4"/>
          <p:cNvSpPr/>
          <p:nvPr/>
        </p:nvSpPr>
        <p:spPr>
          <a:xfrm>
            <a:off x="480060" y="1610725"/>
            <a:ext cx="3977640" cy="893988"/>
          </a:xfrm>
          <a:prstGeom prst="rect">
            <a:avLst/>
          </a:prstGeom>
          <a:noFill/>
          <a:ln/>
        </p:spPr>
        <p:txBody>
          <a:bodyPr wrap="square" rtlCol="0" anchor="ctr"/>
          <a:lstStyle/>
          <a:p>
            <a:r>
              <a:rPr lang="en-US" sz="1150" b="1" dirty="0">
                <a:solidFill>
                  <a:srgbClr val="C0392B"/>
                </a:solidFill>
                <a:latin typeface="Calibri" pitchFamily="34" charset="0"/>
                <a:ea typeface="Calibri" pitchFamily="34" charset="-122"/>
                <a:cs typeface="Calibri" pitchFamily="34" charset="-120"/>
              </a:rPr>
              <a:t>Root Problem: </a:t>
            </a:r>
            <a:r>
              <a:rPr lang="zh-CN" altLang="zh-CN" sz="1150" b="1" dirty="0">
                <a:solidFill>
                  <a:srgbClr val="C0392B"/>
                </a:solidFill>
                <a:latin typeface="Calibri" pitchFamily="34" charset="0"/>
                <a:cs typeface="Calibri" pitchFamily="34" charset="-120"/>
              </a:rPr>
              <a:t>benchmarks including MMLU, ARC and HellaSwag only generate a single token (A/B/C/D) per sample, and the per-token energy consumption is heavily distorted by background system noise.</a:t>
            </a:r>
            <a:endParaRPr lang="en-US" sz="1150" b="1" dirty="0">
              <a:solidFill>
                <a:srgbClr val="C0392B"/>
              </a:solidFill>
              <a:latin typeface="Calibri" pitchFamily="34" charset="0"/>
              <a:ea typeface="Calibri" pitchFamily="34" charset="-122"/>
              <a:cs typeface="Calibri" pitchFamily="34" charset="-120"/>
            </a:endParaRPr>
          </a:p>
        </p:txBody>
      </p:sp>
      <p:sp>
        <p:nvSpPr>
          <p:cNvPr id="7" name="Text 5"/>
          <p:cNvSpPr/>
          <p:nvPr/>
        </p:nvSpPr>
        <p:spPr>
          <a:xfrm>
            <a:off x="525780" y="2483892"/>
            <a:ext cx="3977640" cy="1920240"/>
          </a:xfrm>
          <a:prstGeom prst="rect">
            <a:avLst/>
          </a:prstGeom>
          <a:noFill/>
          <a:ln/>
        </p:spPr>
        <p:txBody>
          <a:bodyPr wrap="square" rtlCol="0" anchor="t"/>
          <a:lstStyle/>
          <a:p>
            <a:pPr marL="342900" indent="-342900">
              <a:spcAft>
                <a:spcPts val="500"/>
              </a:spcAft>
              <a:buSzPct val="100000"/>
              <a:buChar char="•"/>
            </a:pPr>
            <a:r>
              <a:rPr lang="en-US" sz="1100" dirty="0">
                <a:solidFill>
                  <a:srgbClr val="5C4A3A"/>
                </a:solidFill>
                <a:latin typeface="Calibri" pitchFamily="34" charset="0"/>
                <a:ea typeface="Calibri" pitchFamily="34" charset="-122"/>
                <a:cs typeface="Calibri" pitchFamily="34" charset="-120"/>
              </a:rPr>
              <a:t>TTFT (prefill) dominates: ~98% of total latency</a:t>
            </a:r>
            <a:endParaRPr lang="en-US" sz="1100" dirty="0"/>
          </a:p>
          <a:p>
            <a:pPr marL="342900" indent="-342900">
              <a:spcAft>
                <a:spcPts val="500"/>
              </a:spcAft>
              <a:buSzPct val="100000"/>
              <a:buChar char="•"/>
            </a:pPr>
            <a:r>
              <a:rPr lang="en-US" sz="1100" dirty="0">
                <a:solidFill>
                  <a:srgbClr val="5C4A3A"/>
                </a:solidFill>
                <a:latin typeface="Calibri" pitchFamily="34" charset="0"/>
                <a:ea typeface="Calibri" pitchFamily="34" charset="-122"/>
                <a:cs typeface="Calibri" pitchFamily="34" charset="-120"/>
              </a:rPr>
              <a:t>Generation phase: only ~2% of total latency</a:t>
            </a:r>
            <a:endParaRPr lang="en-US" sz="1100" dirty="0"/>
          </a:p>
          <a:p>
            <a:pPr marL="342900" indent="-342900">
              <a:spcAft>
                <a:spcPts val="500"/>
              </a:spcAft>
              <a:buSzPct val="100000"/>
              <a:buChar char="•"/>
            </a:pPr>
            <a:r>
              <a:rPr lang="en-US" sz="1100" dirty="0">
                <a:solidFill>
                  <a:srgbClr val="5C4A3A"/>
                </a:solidFill>
                <a:latin typeface="Calibri" pitchFamily="34" charset="0"/>
                <a:ea typeface="Calibri" pitchFamily="34" charset="-122"/>
                <a:cs typeface="Calibri" pitchFamily="34" charset="-120"/>
              </a:rPr>
              <a:t>Throughput ≈ 2 tok/s for ALL models — indistinguishable</a:t>
            </a:r>
            <a:endParaRPr lang="en-US" sz="1100" dirty="0"/>
          </a:p>
        </p:txBody>
      </p:sp>
      <p:sp>
        <p:nvSpPr>
          <p:cNvPr id="8" name="Text 6"/>
          <p:cNvSpPr/>
          <p:nvPr/>
        </p:nvSpPr>
        <p:spPr>
          <a:xfrm>
            <a:off x="480060" y="3674350"/>
            <a:ext cx="3977640" cy="457200"/>
          </a:xfrm>
          <a:prstGeom prst="rect">
            <a:avLst/>
          </a:prstGeom>
          <a:noFill/>
          <a:ln/>
        </p:spPr>
        <p:txBody>
          <a:bodyPr wrap="square" rtlCol="0" anchor="ctr"/>
          <a:lstStyle/>
          <a:p>
            <a:pPr marL="0" indent="0">
              <a:buNone/>
            </a:pPr>
            <a:r>
              <a:rPr lang="en-US" altLang="zh-CN" sz="1050" b="1" i="1" dirty="0">
                <a:solidFill>
                  <a:srgbClr val="2E7D32"/>
                </a:solidFill>
                <a:latin typeface="Calibri" pitchFamily="34" charset="0"/>
                <a:ea typeface="Calibri" pitchFamily="34" charset="-122"/>
                <a:cs typeface="Calibri" pitchFamily="34" charset="-120"/>
              </a:rPr>
              <a:t>Separate capability and runtime testing:</a:t>
            </a:r>
            <a:endParaRPr lang="en-US" sz="1050" b="1" i="1" dirty="0">
              <a:solidFill>
                <a:srgbClr val="2E7D32"/>
              </a:solidFill>
              <a:latin typeface="Calibri" pitchFamily="34" charset="0"/>
              <a:ea typeface="Calibri" pitchFamily="34" charset="-122"/>
              <a:cs typeface="Calibri" pitchFamily="34" charset="-120"/>
            </a:endParaRPr>
          </a:p>
          <a:p>
            <a:r>
              <a:rPr lang="en-US" altLang="zh-CN" sz="1050" b="1" i="1" dirty="0">
                <a:solidFill>
                  <a:srgbClr val="2E7D32"/>
                </a:solidFill>
                <a:latin typeface="Calibri" pitchFamily="34" charset="0"/>
                <a:ea typeface="Calibri" pitchFamily="34" charset="-122"/>
                <a:cs typeface="Calibri" pitchFamily="34" charset="-120"/>
              </a:rPr>
              <a:t>✓ </a:t>
            </a:r>
            <a:r>
              <a:rPr lang="en-US" sz="1050" b="1" i="1" dirty="0">
                <a:solidFill>
                  <a:srgbClr val="2E7D32"/>
                </a:solidFill>
                <a:latin typeface="Calibri" pitchFamily="34" charset="0"/>
                <a:ea typeface="Calibri" pitchFamily="34" charset="-122"/>
                <a:cs typeface="Calibri" pitchFamily="34" charset="-120"/>
              </a:rPr>
              <a:t>Capability → </a:t>
            </a:r>
            <a:r>
              <a:rPr lang="en-US" sz="1050" b="1" i="1" dirty="0" err="1">
                <a:solidFill>
                  <a:srgbClr val="2E7D32"/>
                </a:solidFill>
                <a:latin typeface="Calibri" pitchFamily="34" charset="0"/>
                <a:ea typeface="Calibri" pitchFamily="34" charset="-122"/>
                <a:cs typeface="Calibri" pitchFamily="34" charset="-120"/>
              </a:rPr>
              <a:t>lm</a:t>
            </a:r>
            <a:r>
              <a:rPr lang="en-US" sz="1050" b="1" i="1" dirty="0">
                <a:solidFill>
                  <a:srgbClr val="2E7D32"/>
                </a:solidFill>
                <a:latin typeface="Calibri" pitchFamily="34" charset="0"/>
                <a:ea typeface="Calibri" pitchFamily="34" charset="-122"/>
                <a:cs typeface="Calibri" pitchFamily="34" charset="-120"/>
              </a:rPr>
              <a:t>-evaluation-harness </a:t>
            </a:r>
          </a:p>
          <a:p>
            <a:r>
              <a:rPr lang="en-US" altLang="zh-CN" sz="1050" b="1" i="1" dirty="0">
                <a:solidFill>
                  <a:srgbClr val="2E7D32"/>
                </a:solidFill>
                <a:latin typeface="Calibri" pitchFamily="34" charset="0"/>
                <a:ea typeface="Calibri" pitchFamily="34" charset="-122"/>
                <a:cs typeface="Calibri" pitchFamily="34" charset="-120"/>
              </a:rPr>
              <a:t>✓ </a:t>
            </a:r>
            <a:r>
              <a:rPr lang="en-US" sz="1050" b="1" i="1" dirty="0">
                <a:solidFill>
                  <a:srgbClr val="2E7D32"/>
                </a:solidFill>
                <a:latin typeface="Calibri" pitchFamily="34" charset="0"/>
                <a:ea typeface="Calibri" pitchFamily="34" charset="-122"/>
                <a:cs typeface="Calibri" pitchFamily="34" charset="-120"/>
              </a:rPr>
              <a:t>Performance → LDWS (50 multi-token prompts)</a:t>
            </a:r>
            <a:endParaRPr lang="en-US" sz="1050" dirty="0"/>
          </a:p>
        </p:txBody>
      </p:sp>
      <p:sp>
        <p:nvSpPr>
          <p:cNvPr id="9" name="Shape 7"/>
          <p:cNvSpPr/>
          <p:nvPr/>
        </p:nvSpPr>
        <p:spPr>
          <a:xfrm>
            <a:off x="4754880" y="914400"/>
            <a:ext cx="4114800" cy="3840480"/>
          </a:xfrm>
          <a:prstGeom prst="roundRect">
            <a:avLst>
              <a:gd name="adj" fmla="val 1905"/>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0" name="Text 8"/>
          <p:cNvSpPr/>
          <p:nvPr/>
        </p:nvSpPr>
        <p:spPr>
          <a:xfrm>
            <a:off x="4937760" y="960120"/>
            <a:ext cx="3840480" cy="347472"/>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Why CodeCarbon + Why lm-eval?</a:t>
            </a:r>
            <a:endParaRPr lang="en-US" sz="1300" dirty="0"/>
          </a:p>
        </p:txBody>
      </p:sp>
      <p:sp>
        <p:nvSpPr>
          <p:cNvPr id="11" name="Text 9"/>
          <p:cNvSpPr/>
          <p:nvPr/>
        </p:nvSpPr>
        <p:spPr>
          <a:xfrm>
            <a:off x="4892040" y="2560320"/>
            <a:ext cx="3840480" cy="274320"/>
          </a:xfrm>
          <a:prstGeom prst="rect">
            <a:avLst/>
          </a:prstGeom>
          <a:noFill/>
          <a:ln/>
        </p:spPr>
        <p:txBody>
          <a:bodyPr wrap="square" rtlCol="0" anchor="ctr"/>
          <a:lstStyle/>
          <a:p>
            <a:pPr marL="0" indent="0">
              <a:buNone/>
            </a:pPr>
            <a:r>
              <a:rPr lang="zh-CN" altLang="zh-CN" sz="1300" b="1" dirty="0">
                <a:solidFill>
                  <a:srgbClr val="B85042"/>
                </a:solidFill>
                <a:latin typeface="Calibri" pitchFamily="34" charset="0"/>
                <a:cs typeface="Calibri" pitchFamily="34" charset="-120"/>
              </a:rPr>
              <a:t>What are they?</a:t>
            </a:r>
            <a:endParaRPr lang="en-US" sz="1300" b="1" dirty="0">
              <a:solidFill>
                <a:srgbClr val="B85042"/>
              </a:solidFill>
              <a:latin typeface="Calibri" pitchFamily="34" charset="0"/>
              <a:ea typeface="Calibri" pitchFamily="34" charset="-122"/>
              <a:cs typeface="Calibri" pitchFamily="34" charset="-120"/>
            </a:endParaRPr>
          </a:p>
        </p:txBody>
      </p:sp>
      <p:sp>
        <p:nvSpPr>
          <p:cNvPr id="12" name="Text 10"/>
          <p:cNvSpPr/>
          <p:nvPr/>
        </p:nvSpPr>
        <p:spPr>
          <a:xfrm>
            <a:off x="4937760" y="1278466"/>
            <a:ext cx="3840480" cy="1417320"/>
          </a:xfrm>
          <a:prstGeom prst="rect">
            <a:avLst/>
          </a:prstGeom>
          <a:noFill/>
          <a:ln/>
        </p:spPr>
        <p:txBody>
          <a:bodyPr wrap="square" rtlCol="0" anchor="t"/>
          <a:lstStyle/>
          <a:p>
            <a:pPr marL="228600" indent="-228600" algn="l">
              <a:buFont typeface="+mj-lt"/>
              <a:buAutoNum type="arabicPeriod"/>
            </a:pPr>
            <a:r>
              <a:rPr lang="en-US" altLang="zh-CN" sz="1100" dirty="0">
                <a:solidFill>
                  <a:srgbClr val="5C4A3A"/>
                </a:solidFill>
                <a:latin typeface="Calibri" pitchFamily="34" charset="0"/>
                <a:cs typeface="Calibri" pitchFamily="34" charset="-120"/>
              </a:rPr>
              <a:t>Unify workflows </a:t>
            </a:r>
            <a:r>
              <a:rPr lang="zh-CN" altLang="zh-CN" sz="1100" dirty="0">
                <a:solidFill>
                  <a:srgbClr val="5C4A3A"/>
                </a:solidFill>
                <a:latin typeface="Calibri" pitchFamily="34" charset="0"/>
                <a:cs typeface="Calibri" pitchFamily="34" charset="-120"/>
              </a:rPr>
              <a:t>: Replaces error-prone manual parsers and custom TDP formulas with community-verified, robust implementations.</a:t>
            </a:r>
          </a:p>
          <a:p>
            <a:pPr marL="228600" indent="-228600" algn="l">
              <a:buFont typeface="+mj-lt"/>
              <a:buAutoNum type="arabicPeriod"/>
            </a:pPr>
            <a:r>
              <a:rPr lang="zh-CN" altLang="zh-CN" sz="1100" dirty="0">
                <a:solidFill>
                  <a:srgbClr val="5C4A3A"/>
                </a:solidFill>
                <a:latin typeface="Calibri" pitchFamily="34" charset="0"/>
                <a:cs typeface="Calibri" pitchFamily="34" charset="-120"/>
              </a:rPr>
              <a:t>Academic Credibility: Provides authoritative citations </a:t>
            </a:r>
            <a:endParaRPr lang="en-US" altLang="zh-CN" sz="1100" dirty="0">
              <a:solidFill>
                <a:srgbClr val="5C4A3A"/>
              </a:solidFill>
              <a:latin typeface="Calibri" pitchFamily="34" charset="0"/>
              <a:cs typeface="Calibri" pitchFamily="34" charset="-120"/>
            </a:endParaRPr>
          </a:p>
          <a:p>
            <a:pPr marL="228600" indent="-228600" algn="l">
              <a:buFont typeface="+mj-lt"/>
              <a:buAutoNum type="arabicPeriod"/>
            </a:pPr>
            <a:r>
              <a:rPr lang="zh-CN" altLang="zh-CN" sz="1100" dirty="0">
                <a:solidFill>
                  <a:srgbClr val="5C4A3A"/>
                </a:solidFill>
                <a:latin typeface="Calibri" pitchFamily="34" charset="0"/>
                <a:cs typeface="Calibri" pitchFamily="34" charset="-120"/>
              </a:rPr>
              <a:t>Direct Comparability: Ensures our results can be directly compared against existing literature</a:t>
            </a:r>
          </a:p>
        </p:txBody>
      </p:sp>
      <p:sp>
        <p:nvSpPr>
          <p:cNvPr id="13" name="Text 11"/>
          <p:cNvSpPr/>
          <p:nvPr/>
        </p:nvSpPr>
        <p:spPr>
          <a:xfrm>
            <a:off x="4937760" y="2976372"/>
            <a:ext cx="3840480" cy="1176300"/>
          </a:xfrm>
          <a:prstGeom prst="rect">
            <a:avLst/>
          </a:prstGeom>
          <a:noFill/>
          <a:ln/>
        </p:spPr>
        <p:txBody>
          <a:bodyPr wrap="square" rtlCol="0" anchor="ctr"/>
          <a:lstStyle/>
          <a:p>
            <a:pPr marL="228600" indent="-228600" algn="l">
              <a:buFont typeface="+mj-lt"/>
              <a:buAutoNum type="arabicPeriod"/>
            </a:pPr>
            <a:r>
              <a:rPr lang="zh-CN" altLang="zh-CN" sz="1100" dirty="0">
                <a:solidFill>
                  <a:srgbClr val="5C4A3A"/>
                </a:solidFill>
                <a:latin typeface="Calibri" pitchFamily="34" charset="0"/>
                <a:cs typeface="Calibri" pitchFamily="34" charset="-120"/>
              </a:rPr>
              <a:t>CodeCarbon: An open-source library for estimating the energy consumption and carbon footprint of compute operations.</a:t>
            </a:r>
            <a:endParaRPr lang="en-US" altLang="zh-CN" sz="1100" dirty="0">
              <a:solidFill>
                <a:srgbClr val="5C4A3A"/>
              </a:solidFill>
              <a:latin typeface="Calibri" pitchFamily="34" charset="0"/>
              <a:cs typeface="Calibri" pitchFamily="34" charset="-120"/>
            </a:endParaRPr>
          </a:p>
          <a:p>
            <a:pPr marL="228600" indent="-228600" algn="l">
              <a:buFont typeface="+mj-lt"/>
              <a:buAutoNum type="arabicPeriod"/>
            </a:pPr>
            <a:endParaRPr lang="en-US" altLang="zh-CN" sz="1100" dirty="0">
              <a:solidFill>
                <a:srgbClr val="5C4A3A"/>
              </a:solidFill>
              <a:latin typeface="Calibri" pitchFamily="34" charset="0"/>
              <a:cs typeface="Calibri" pitchFamily="34" charset="-120"/>
            </a:endParaRPr>
          </a:p>
          <a:p>
            <a:pPr marL="228600" indent="-228600" algn="l">
              <a:buFont typeface="+mj-lt"/>
              <a:buAutoNum type="arabicPeriod"/>
            </a:pPr>
            <a:r>
              <a:rPr lang="zh-CN" altLang="zh-CN" sz="1100" dirty="0">
                <a:solidFill>
                  <a:srgbClr val="5C4A3A"/>
                </a:solidFill>
                <a:latin typeface="Calibri" pitchFamily="34" charset="0"/>
                <a:cs typeface="Calibri" pitchFamily="34" charset="-120"/>
              </a:rPr>
              <a:t>lm-evaluation-harness: EleutherAI's unified framework for testing language models on standard academic benchmarks.</a:t>
            </a:r>
          </a:p>
        </p:txBody>
      </p:sp>
      <p:sp>
        <p:nvSpPr>
          <p:cNvPr id="16" name="TextBox 15">
            <a:extLst>
              <a:ext uri="{FF2B5EF4-FFF2-40B4-BE49-F238E27FC236}">
                <a16:creationId xmlns:a16="http://schemas.microsoft.com/office/drawing/2014/main" id="{E98AC396-B662-8846-F28F-3FF0AFCD7B04}"/>
              </a:ext>
            </a:extLst>
          </p:cNvPr>
          <p:cNvSpPr txBox="1"/>
          <p:nvPr/>
        </p:nvSpPr>
        <p:spPr>
          <a:xfrm>
            <a:off x="502920" y="1240550"/>
            <a:ext cx="4137660" cy="461665"/>
          </a:xfrm>
          <a:prstGeom prst="rect">
            <a:avLst/>
          </a:prstGeom>
          <a:noFill/>
        </p:spPr>
        <p:txBody>
          <a:bodyPr wrap="square">
            <a:spAutoFit/>
          </a:bodyPr>
          <a:lstStyle/>
          <a:p>
            <a:r>
              <a:rPr lang="en-US" altLang="zh-CN" sz="1150" b="1" dirty="0">
                <a:solidFill>
                  <a:srgbClr val="C0392B"/>
                </a:solidFill>
                <a:latin typeface="Calibri" pitchFamily="34" charset="0"/>
                <a:cs typeface="Calibri" pitchFamily="34" charset="-120"/>
              </a:rPr>
              <a:t>standard single-choice benchmarks produce statistically meaningless performance metrics</a:t>
            </a:r>
            <a:endParaRPr lang="zh-CN" altLang="en-US" sz="1150" b="1" dirty="0">
              <a:solidFill>
                <a:srgbClr val="C0392B"/>
              </a:solidFill>
              <a:latin typeface="Calibri" pitchFamily="34" charset="0"/>
              <a:cs typeface="Calibri"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lgn="l">
              <a:buNone/>
            </a:pPr>
            <a:r>
              <a:rPr lang="en-US" sz="3000" b="1" dirty="0">
                <a:solidFill>
                  <a:srgbClr val="B85042"/>
                </a:solidFill>
                <a:latin typeface="Cambria" pitchFamily="34" charset="0"/>
                <a:ea typeface="Cambria" pitchFamily="34" charset="-122"/>
                <a:cs typeface="Cambria" pitchFamily="34" charset="-120"/>
              </a:rPr>
              <a:t>LDWS — Custom Performance Dataset Design</a:t>
            </a:r>
            <a:endParaRPr lang="en-US" sz="3000" dirty="0"/>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Shape 2"/>
          <p:cNvSpPr/>
          <p:nvPr/>
        </p:nvSpPr>
        <p:spPr>
          <a:xfrm>
            <a:off x="320040" y="914400"/>
            <a:ext cx="8503920" cy="1274400"/>
          </a:xfrm>
          <a:prstGeom prst="roundRect">
            <a:avLst>
              <a:gd name="adj" fmla="val 7619"/>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5" name="Text 3"/>
          <p:cNvSpPr/>
          <p:nvPr/>
        </p:nvSpPr>
        <p:spPr>
          <a:xfrm>
            <a:off x="411480" y="1034118"/>
            <a:ext cx="8229600" cy="1034964"/>
          </a:xfrm>
          <a:prstGeom prst="rect">
            <a:avLst/>
          </a:prstGeom>
          <a:noFill/>
          <a:ln/>
        </p:spPr>
        <p:txBody>
          <a:bodyPr wrap="square" rtlCol="0" anchor="ctr"/>
          <a:lstStyle/>
          <a:p>
            <a:pPr marL="0" indent="0">
              <a:buNone/>
            </a:pPr>
            <a:r>
              <a:rPr lang="zh-CN" altLang="zh-CN" sz="1200" b="0" i="0" dirty="0">
                <a:effectLst/>
                <a:latin typeface="ui-sans-serif"/>
              </a:rPr>
              <a:t>The LDWS prompt set was not randomly assembled</a:t>
            </a:r>
            <a:r>
              <a:rPr lang="en-US" altLang="zh-CN" sz="1200" b="0" i="0" dirty="0">
                <a:effectLst/>
                <a:latin typeface="ui-sans-serif"/>
              </a:rPr>
              <a:t>:</a:t>
            </a:r>
            <a:r>
              <a:rPr lang="zh-CN" altLang="en-US" sz="1200" b="0" i="0" dirty="0">
                <a:effectLst/>
                <a:latin typeface="ui-sans-serif"/>
              </a:rPr>
              <a:t> </a:t>
            </a:r>
            <a:r>
              <a:rPr lang="zh-CN" altLang="zh-CN" sz="1200" b="0" i="0" dirty="0">
                <a:effectLst/>
                <a:latin typeface="ui-sans-serif"/>
              </a:rPr>
              <a:t>it was constructed using a </a:t>
            </a:r>
            <a:r>
              <a:rPr lang="zh-CN" altLang="zh-CN" sz="1200" b="1" i="0" dirty="0">
                <a:effectLst/>
                <a:latin typeface="ui-sans-serif"/>
              </a:rPr>
              <a:t>Task × Length Stratified Sampling Matrix</a:t>
            </a:r>
            <a:r>
              <a:rPr lang="zh-CN" altLang="zh-CN" sz="1200" b="0" i="0" dirty="0">
                <a:effectLst/>
                <a:latin typeface="ui-sans-serif"/>
              </a:rPr>
              <a:t>. </a:t>
            </a:r>
            <a:endParaRPr lang="en-US" altLang="zh-CN" sz="1200" b="0" i="0" dirty="0">
              <a:effectLst/>
              <a:latin typeface="ui-sans-serif"/>
            </a:endParaRPr>
          </a:p>
          <a:p>
            <a:pPr marL="0" indent="0">
              <a:buNone/>
            </a:pPr>
            <a:r>
              <a:rPr lang="zh-CN" altLang="zh-CN" sz="1200" b="0" i="0" dirty="0">
                <a:effectLst/>
                <a:latin typeface="ui-sans-serif"/>
              </a:rPr>
              <a:t>The prompts were carefully sampled across two core dimensions: </a:t>
            </a:r>
            <a:endParaRPr lang="en-US" altLang="zh-CN" sz="1200" b="0" i="0" dirty="0">
              <a:effectLst/>
              <a:latin typeface="ui-sans-serif"/>
            </a:endParaRPr>
          </a:p>
          <a:p>
            <a:pPr marL="228600" indent="-228600">
              <a:buFont typeface="+mj-lt"/>
              <a:buAutoNum type="arabicPeriod"/>
            </a:pPr>
            <a:r>
              <a:rPr lang="zh-CN" altLang="zh-CN" sz="1200" i="0" dirty="0">
                <a:effectLst/>
                <a:latin typeface="ui-sans-serif"/>
              </a:rPr>
              <a:t>Task Type (representing typical use cases for edge deployment) </a:t>
            </a:r>
            <a:endParaRPr lang="en-US" altLang="zh-CN" sz="1200" i="0" dirty="0">
              <a:effectLst/>
              <a:latin typeface="ui-sans-serif"/>
            </a:endParaRPr>
          </a:p>
          <a:p>
            <a:pPr marL="228600" indent="-228600">
              <a:buFont typeface="+mj-lt"/>
              <a:buAutoNum type="arabicPeriod"/>
            </a:pPr>
            <a:r>
              <a:rPr lang="zh-CN" altLang="zh-CN" sz="1200" i="0" dirty="0">
                <a:effectLst/>
                <a:latin typeface="ui-sans-serif"/>
              </a:rPr>
              <a:t>Input Length (a critical variable affecting prefill latency and energy consumption). </a:t>
            </a:r>
            <a:endParaRPr lang="en-US" altLang="zh-CN" sz="1200" i="0" dirty="0">
              <a:effectLst/>
              <a:latin typeface="ui-sans-serif"/>
            </a:endParaRPr>
          </a:p>
          <a:p>
            <a:pPr marL="228600" indent="-228600">
              <a:buFont typeface="+mj-lt"/>
              <a:buAutoNum type="arabicPeriod"/>
            </a:pPr>
            <a:r>
              <a:rPr lang="zh-CN" altLang="zh-CN" sz="1200" i="0" dirty="0">
                <a:effectLst/>
                <a:latin typeface="ui-sans-serif"/>
              </a:rPr>
              <a:t>A fixed random seed (seed=42) was used during extraction to ensure full reproducibility.</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3571566735"/>
              </p:ext>
            </p:extLst>
          </p:nvPr>
        </p:nvGraphicFramePr>
        <p:xfrm>
          <a:off x="320040" y="2348928"/>
          <a:ext cx="8503920" cy="2503716"/>
        </p:xfrm>
        <a:graphic>
          <a:graphicData uri="http://schemas.openxmlformats.org/drawingml/2006/table">
            <a:tbl>
              <a:tblPr/>
              <a:tblGrid>
                <a:gridCol w="14630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3063240">
                  <a:extLst>
                    <a:ext uri="{9D8B030D-6E8A-4147-A177-3AD203B41FA5}">
                      <a16:colId xmlns:a16="http://schemas.microsoft.com/office/drawing/2014/main" val="20004"/>
                    </a:ext>
                  </a:extLst>
                </a:gridCol>
              </a:tblGrid>
              <a:tr h="34616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Task Type</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Count</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Input Length</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Deployment Scenario</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34616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Alpaca</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Instruction following</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b="1" dirty="0">
                          <a:solidFill>
                            <a:srgbClr val="B85042"/>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Short  (&lt;50 tokens)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Everyday assistant queries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extLst>
                  <a:ext uri="{0D108BD9-81ED-4DB2-BD59-A6C34878D82A}">
                    <a16:rowId xmlns:a16="http://schemas.microsoft.com/office/drawing/2014/main" val="10001"/>
                  </a:ext>
                </a:extLst>
              </a:tr>
              <a:tr h="34616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GSM8K</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Mathematical reasoning</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b="1" dirty="0">
                          <a:solidFill>
                            <a:srgbClr val="B85042"/>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Medium  (50–150 tokens)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Analytical / calculation tasks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extLst>
                  <a:ext uri="{0D108BD9-81ED-4DB2-BD59-A6C34878D82A}">
                    <a16:rowId xmlns:a16="http://schemas.microsoft.com/office/drawing/2014/main" val="10002"/>
                  </a:ext>
                </a:extLst>
              </a:tr>
              <a:tr h="34616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OpenAssistant</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Open QA</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b="1" dirty="0">
                          <a:solidFill>
                            <a:srgbClr val="B85042"/>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Medium  (50–150 tokens)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Conversational assistant</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extLst>
                  <a:ext uri="{0D108BD9-81ED-4DB2-BD59-A6C34878D82A}">
                    <a16:rowId xmlns:a16="http://schemas.microsoft.com/office/drawing/2014/main" val="10003"/>
                  </a:ext>
                </a:extLst>
              </a:tr>
              <a:tr h="34616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OpenAssistant</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Complex reasoning</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b="1" dirty="0">
                          <a:solidFill>
                            <a:srgbClr val="B8504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Long  (&gt;150 tokens)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Multi-step problem solving</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extLst>
                  <a:ext uri="{0D108BD9-81ED-4DB2-BD59-A6C34878D82A}">
                    <a16:rowId xmlns:a16="http://schemas.microsoft.com/office/drawing/2014/main" val="10004"/>
                  </a:ext>
                </a:extLst>
              </a:tr>
              <a:tr h="346166">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CNN/DailyMail</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Summarisation</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b="1" dirty="0">
                          <a:solidFill>
                            <a:srgbClr val="B8504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Long  (&gt;150 tokens)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Document processing / summarisation</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extLst>
                  <a:ext uri="{0D108BD9-81ED-4DB2-BD59-A6C34878D82A}">
                    <a16:rowId xmlns:a16="http://schemas.microsoft.com/office/drawing/2014/main" val="10005"/>
                  </a:ext>
                </a:extLst>
              </a:tr>
              <a:tr h="34616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3D231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5 task types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3D2315"/>
                    </a:solidFill>
                  </a:tcPr>
                </a:tc>
                <a:tc>
                  <a:txBody>
                    <a:bodyPr/>
                    <a:lstStyle/>
                    <a:p>
                      <a:pPr marL="0" indent="0">
                        <a:buNone/>
                      </a:pPr>
                      <a:r>
                        <a:rPr lang="en-US" sz="1100" b="1" dirty="0">
                          <a:solidFill>
                            <a:srgbClr val="F0C080"/>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3D231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Short 17 · Medium 17 · Long 16</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3D2315"/>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seed=42 · all datasets have academic citations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3D231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C96C8-67DB-526C-ED23-343F97C02A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2C2E865-2EB9-5D69-CD62-842790AFC5C3}"/>
              </a:ext>
            </a:extLst>
          </p:cNvPr>
          <p:cNvSpPr/>
          <p:nvPr/>
        </p:nvSpPr>
        <p:spPr>
          <a:xfrm>
            <a:off x="411480" y="164592"/>
            <a:ext cx="8321040" cy="566928"/>
          </a:xfrm>
          <a:prstGeom prst="rect">
            <a:avLst/>
          </a:prstGeom>
          <a:noFill/>
          <a:ln/>
        </p:spPr>
        <p:txBody>
          <a:bodyPr wrap="square" lIns="0" tIns="0" rIns="0" bIns="0" rtlCol="0" anchor="ctr"/>
          <a:lstStyle/>
          <a:p>
            <a:r>
              <a:rPr lang="en-US" sz="3000" b="1" dirty="0">
                <a:solidFill>
                  <a:srgbClr val="B85042"/>
                </a:solidFill>
                <a:latin typeface="Cambria" pitchFamily="34" charset="0"/>
                <a:ea typeface="Cambria" pitchFamily="34" charset="-122"/>
                <a:cs typeface="Cambria" pitchFamily="34" charset="-120"/>
              </a:rPr>
              <a:t>LDWS — </a:t>
            </a:r>
            <a:r>
              <a:rPr lang="en-US" sz="3000" b="1" dirty="0">
                <a:solidFill>
                  <a:srgbClr val="B85042"/>
                </a:solidFill>
                <a:latin typeface="Cambria" pitchFamily="34" charset="0"/>
                <a:ea typeface="Cambria" pitchFamily="34" charset="-122"/>
              </a:rPr>
              <a:t>C</a:t>
            </a:r>
            <a:r>
              <a:rPr lang="zh-CN" altLang="zh-CN" sz="3000" b="1" dirty="0">
                <a:solidFill>
                  <a:srgbClr val="B85042"/>
                </a:solidFill>
                <a:latin typeface="Cambria" pitchFamily="34" charset="0"/>
              </a:rPr>
              <a:t>ore questions </a:t>
            </a:r>
            <a:endParaRPr lang="en-US" sz="3000" b="1" dirty="0">
              <a:solidFill>
                <a:srgbClr val="B85042"/>
              </a:solidFill>
              <a:latin typeface="Cambria" pitchFamily="34" charset="0"/>
              <a:ea typeface="Cambria" pitchFamily="34" charset="-122"/>
            </a:endParaRPr>
          </a:p>
        </p:txBody>
      </p:sp>
      <p:sp>
        <p:nvSpPr>
          <p:cNvPr id="3" name="Shape 1">
            <a:extLst>
              <a:ext uri="{FF2B5EF4-FFF2-40B4-BE49-F238E27FC236}">
                <a16:creationId xmlns:a16="http://schemas.microsoft.com/office/drawing/2014/main" id="{02719116-CD11-5239-8DC3-8AD42B266E84}"/>
              </a:ext>
            </a:extLst>
          </p:cNvPr>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Shape 2">
            <a:extLst>
              <a:ext uri="{FF2B5EF4-FFF2-40B4-BE49-F238E27FC236}">
                <a16:creationId xmlns:a16="http://schemas.microsoft.com/office/drawing/2014/main" id="{980D8929-CB7E-C6E1-A502-21FBE5F45E84}"/>
              </a:ext>
            </a:extLst>
          </p:cNvPr>
          <p:cNvSpPr/>
          <p:nvPr/>
        </p:nvSpPr>
        <p:spPr>
          <a:xfrm>
            <a:off x="411480" y="900000"/>
            <a:ext cx="8503920" cy="1648890"/>
          </a:xfrm>
          <a:prstGeom prst="roundRect">
            <a:avLst>
              <a:gd name="adj" fmla="val 7619"/>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5" name="Text 3">
            <a:extLst>
              <a:ext uri="{FF2B5EF4-FFF2-40B4-BE49-F238E27FC236}">
                <a16:creationId xmlns:a16="http://schemas.microsoft.com/office/drawing/2014/main" id="{3395080E-E612-D97C-0572-A351CFCA3480}"/>
              </a:ext>
            </a:extLst>
          </p:cNvPr>
          <p:cNvSpPr/>
          <p:nvPr/>
        </p:nvSpPr>
        <p:spPr>
          <a:xfrm>
            <a:off x="457200" y="891540"/>
            <a:ext cx="8229600" cy="256032"/>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Why not use a single existing dataset for performance?</a:t>
            </a:r>
            <a:endParaRPr lang="en-US" sz="1200" dirty="0"/>
          </a:p>
        </p:txBody>
      </p:sp>
      <p:sp>
        <p:nvSpPr>
          <p:cNvPr id="6" name="Text 4">
            <a:extLst>
              <a:ext uri="{FF2B5EF4-FFF2-40B4-BE49-F238E27FC236}">
                <a16:creationId xmlns:a16="http://schemas.microsoft.com/office/drawing/2014/main" id="{3015CB17-58D1-A6DE-47E0-6639F1DFD4DE}"/>
              </a:ext>
            </a:extLst>
          </p:cNvPr>
          <p:cNvSpPr/>
          <p:nvPr/>
        </p:nvSpPr>
        <p:spPr>
          <a:xfrm>
            <a:off x="502920" y="1167624"/>
            <a:ext cx="8503920" cy="1260324"/>
          </a:xfrm>
          <a:prstGeom prst="rect">
            <a:avLst/>
          </a:prstGeom>
          <a:noFill/>
          <a:ln/>
        </p:spPr>
        <p:txBody>
          <a:bodyPr wrap="square" rtlCol="0" anchor="ctr"/>
          <a:lstStyle/>
          <a:p>
            <a:pPr marL="171450" indent="-171450">
              <a:buFont typeface="Arial" panose="020B0604020202020204" pitchFamily="34" charset="0"/>
              <a:buChar char="•"/>
            </a:pPr>
            <a:r>
              <a:rPr lang="zh-CN" altLang="zh-CN" sz="1200" b="1" i="0" dirty="0">
                <a:effectLst/>
                <a:latin typeface="ui-sans-serif"/>
              </a:rPr>
              <a:t>Relying on a single dataset systematically biases the evaluation towards specific model architectures. </a:t>
            </a:r>
            <a:endParaRPr lang="en-US" altLang="zh-CN" sz="1200" b="1" i="0" dirty="0">
              <a:effectLst/>
              <a:latin typeface="ui-sans-serif"/>
            </a:endParaRPr>
          </a:p>
          <a:p>
            <a:pPr marL="171450" indent="-171450">
              <a:buFont typeface="Arial" panose="020B0604020202020204" pitchFamily="34" charset="0"/>
              <a:buChar char="•"/>
            </a:pPr>
            <a:endParaRPr lang="en-US" altLang="zh-CN" sz="1200" b="0" i="0" dirty="0">
              <a:effectLst/>
              <a:latin typeface="ui-sans-serif"/>
            </a:endParaRPr>
          </a:p>
          <a:p>
            <a:pPr marL="228600" indent="-228600">
              <a:buFont typeface="+mj-lt"/>
              <a:buAutoNum type="arabicPeriod"/>
            </a:pPr>
            <a:r>
              <a:rPr lang="en-US" altLang="zh-CN" sz="1100" b="0" i="0" dirty="0">
                <a:effectLst/>
                <a:latin typeface="ui-sans-serif"/>
              </a:rPr>
              <a:t>Eg: </a:t>
            </a:r>
            <a:r>
              <a:rPr lang="zh-CN" altLang="zh-CN" sz="1100" b="0" i="0" dirty="0">
                <a:effectLst/>
                <a:latin typeface="ui-sans-serif"/>
              </a:rPr>
              <a:t>using only GSM8K would restrict the evaluation to mathematical reasoning with medium-length prompts, disproportionately favouring models optimised for logical deduction. </a:t>
            </a:r>
            <a:endParaRPr lang="en-US" altLang="zh-CN" sz="1100" b="0" i="0" dirty="0">
              <a:effectLst/>
              <a:latin typeface="ui-sans-serif"/>
            </a:endParaRPr>
          </a:p>
          <a:p>
            <a:pPr marL="228600" indent="-228600">
              <a:buFont typeface="+mj-lt"/>
              <a:buAutoNum type="arabicPeriod"/>
            </a:pPr>
            <a:r>
              <a:rPr lang="zh-CN" altLang="zh-CN" sz="1100" b="0" i="0" dirty="0">
                <a:effectLst/>
                <a:latin typeface="ui-sans-serif"/>
              </a:rPr>
              <a:t>Conversely, using only CNN/DailyMail would introduce a strong bias toward long-input prefill performance. </a:t>
            </a:r>
            <a:endParaRPr lang="en-US" altLang="zh-CN" sz="1100" b="0" i="0" dirty="0">
              <a:effectLst/>
              <a:latin typeface="ui-sans-serif"/>
            </a:endParaRPr>
          </a:p>
          <a:p>
            <a:pPr marL="228600" indent="-228600">
              <a:buFont typeface="+mj-lt"/>
              <a:buAutoNum type="arabicPeriod"/>
            </a:pPr>
            <a:endParaRPr lang="en-US" altLang="zh-CN" sz="1100" b="0" i="0" dirty="0">
              <a:effectLst/>
              <a:latin typeface="ui-sans-serif"/>
            </a:endParaRPr>
          </a:p>
          <a:p>
            <a:pPr marL="0" indent="0">
              <a:buNone/>
            </a:pPr>
            <a:r>
              <a:rPr lang="zh-CN" altLang="zh-CN" sz="1100" b="0" i="0" dirty="0">
                <a:effectLst/>
                <a:latin typeface="ui-sans-serif"/>
              </a:rPr>
              <a:t>Therefore, a diverse mixture of task types and input lengths is essential to accurately simulate the varied workloads of real-world local deployments.</a:t>
            </a:r>
            <a:endParaRPr lang="en-US" sz="1100" dirty="0"/>
          </a:p>
        </p:txBody>
      </p:sp>
      <p:sp>
        <p:nvSpPr>
          <p:cNvPr id="8" name="Shape 5">
            <a:extLst>
              <a:ext uri="{FF2B5EF4-FFF2-40B4-BE49-F238E27FC236}">
                <a16:creationId xmlns:a16="http://schemas.microsoft.com/office/drawing/2014/main" id="{92C3FB41-B54B-0ADA-9D72-1CB05B2E8229}"/>
              </a:ext>
            </a:extLst>
          </p:cNvPr>
          <p:cNvSpPr/>
          <p:nvPr/>
        </p:nvSpPr>
        <p:spPr>
          <a:xfrm>
            <a:off x="411480" y="2864358"/>
            <a:ext cx="8503920" cy="1928286"/>
          </a:xfrm>
          <a:prstGeom prst="roundRect">
            <a:avLst>
              <a:gd name="adj" fmla="val 13793"/>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9" name="Text 6">
            <a:extLst>
              <a:ext uri="{FF2B5EF4-FFF2-40B4-BE49-F238E27FC236}">
                <a16:creationId xmlns:a16="http://schemas.microsoft.com/office/drawing/2014/main" id="{BEF5CD26-3551-F7A9-7D05-DBFAB0F37AB7}"/>
              </a:ext>
            </a:extLst>
          </p:cNvPr>
          <p:cNvSpPr/>
          <p:nvPr/>
        </p:nvSpPr>
        <p:spPr>
          <a:xfrm>
            <a:off x="502920" y="2953278"/>
            <a:ext cx="2560320" cy="256032"/>
          </a:xfrm>
          <a:prstGeom prst="rect">
            <a:avLst/>
          </a:prstGeom>
          <a:noFill/>
          <a:ln/>
        </p:spPr>
        <p:txBody>
          <a:bodyPr wrap="square" rtlCol="0" anchor="ctr"/>
          <a:lstStyle/>
          <a:p>
            <a:pPr marL="0" indent="0">
              <a:buNone/>
            </a:pPr>
            <a:r>
              <a:rPr lang="en-US" sz="1150" b="1" dirty="0">
                <a:solidFill>
                  <a:srgbClr val="B85042"/>
                </a:solidFill>
                <a:latin typeface="Calibri" pitchFamily="34" charset="0"/>
                <a:ea typeface="Calibri" pitchFamily="34" charset="-122"/>
                <a:cs typeface="Calibri" pitchFamily="34" charset="-120"/>
              </a:rPr>
              <a:t>Is 50 prompts statistically sufficient?</a:t>
            </a:r>
            <a:endParaRPr lang="en-US" sz="1150" dirty="0"/>
          </a:p>
        </p:txBody>
      </p:sp>
      <p:sp>
        <p:nvSpPr>
          <p:cNvPr id="10" name="Text 7">
            <a:extLst>
              <a:ext uri="{FF2B5EF4-FFF2-40B4-BE49-F238E27FC236}">
                <a16:creationId xmlns:a16="http://schemas.microsoft.com/office/drawing/2014/main" id="{C8B1DD9D-05F2-5085-5473-C9752E68974D}"/>
              </a:ext>
            </a:extLst>
          </p:cNvPr>
          <p:cNvSpPr/>
          <p:nvPr/>
        </p:nvSpPr>
        <p:spPr>
          <a:xfrm>
            <a:off x="480060" y="3206448"/>
            <a:ext cx="8275320" cy="1060542"/>
          </a:xfrm>
          <a:prstGeom prst="rect">
            <a:avLst/>
          </a:prstGeom>
          <a:noFill/>
          <a:ln/>
        </p:spPr>
        <p:txBody>
          <a:bodyPr wrap="square" rtlCol="0" anchor="ctr"/>
          <a:lstStyle/>
          <a:p>
            <a:pPr marL="171450" indent="-171450" algn="l">
              <a:buFont typeface="Arial" panose="020B0604020202020204" pitchFamily="34" charset="0"/>
              <a:buChar char="•"/>
            </a:pPr>
            <a:r>
              <a:rPr lang="zh-CN" altLang="zh-CN" sz="1200" b="1" i="0" dirty="0">
                <a:effectLst/>
                <a:latin typeface="ui-sans-serif"/>
              </a:rPr>
              <a:t>Objective:</a:t>
            </a:r>
            <a:r>
              <a:rPr lang="zh-CN" altLang="zh-CN" sz="1200" b="0" i="0" dirty="0">
                <a:effectLst/>
                <a:latin typeface="ui-sans-serif"/>
              </a:rPr>
              <a:t> Focuses on </a:t>
            </a:r>
            <a:r>
              <a:rPr lang="zh-CN" altLang="zh-CN" sz="1200" b="0" i="1" dirty="0">
                <a:effectLst/>
                <a:latin typeface="ui-sans-serif"/>
              </a:rPr>
              <a:t>relative performance comparison</a:t>
            </a:r>
            <a:r>
              <a:rPr lang="zh-CN" altLang="zh-CN" sz="1200" b="0" i="0" dirty="0">
                <a:effectLst/>
                <a:latin typeface="ui-sans-serif"/>
              </a:rPr>
              <a:t> between models, rather than absolute system throughput limits.</a:t>
            </a:r>
            <a:endParaRPr lang="en-US" altLang="zh-CN" sz="1200" b="0" i="0" dirty="0">
              <a:effectLst/>
              <a:latin typeface="ui-sans-serif"/>
            </a:endParaRPr>
          </a:p>
          <a:p>
            <a:pPr marL="171450" indent="-171450" algn="l">
              <a:buFont typeface="Arial" panose="020B0604020202020204" pitchFamily="34" charset="0"/>
              <a:buChar char="•"/>
            </a:pPr>
            <a:r>
              <a:rPr lang="zh-CN" altLang="zh-CN" sz="1200" b="1" i="0" dirty="0">
                <a:effectLst/>
                <a:latin typeface="ui-sans-serif"/>
              </a:rPr>
              <a:t>Data Volume:</a:t>
            </a:r>
            <a:r>
              <a:rPr lang="zh-CN" altLang="zh-CN" sz="1200" b="0" i="0" dirty="0">
                <a:effectLst/>
                <a:latin typeface="ui-sans-serif"/>
              </a:rPr>
              <a:t> 50 selected prompts × 3 runs = </a:t>
            </a:r>
            <a:r>
              <a:rPr lang="zh-CN" altLang="zh-CN" sz="1200" b="1" i="0" dirty="0">
                <a:effectLst/>
                <a:latin typeface="ui-sans-serif"/>
              </a:rPr>
              <a:t>150 measurements</a:t>
            </a:r>
            <a:r>
              <a:rPr lang="zh-CN" altLang="zh-CN" sz="1200" b="0" i="0" dirty="0">
                <a:effectLst/>
                <a:latin typeface="ui-sans-serif"/>
              </a:rPr>
              <a:t> per model, per scenario.</a:t>
            </a:r>
            <a:endParaRPr lang="en-US" altLang="zh-CN" sz="1200" b="0" i="0" dirty="0">
              <a:effectLst/>
              <a:latin typeface="ui-sans-serif"/>
            </a:endParaRPr>
          </a:p>
          <a:p>
            <a:pPr marL="171450" indent="-171450" algn="l">
              <a:buFont typeface="Arial" panose="020B0604020202020204" pitchFamily="34" charset="0"/>
              <a:buChar char="•"/>
            </a:pPr>
            <a:r>
              <a:rPr lang="zh-CN" altLang="zh-CN" sz="1200" b="1" i="0" dirty="0">
                <a:effectLst/>
                <a:latin typeface="ui-sans-serif"/>
              </a:rPr>
              <a:t>Statistical Robustness:</a:t>
            </a:r>
            <a:r>
              <a:rPr lang="zh-CN" altLang="zh-CN" sz="1200" b="0" i="0" dirty="0">
                <a:effectLst/>
                <a:latin typeface="ui-sans-serif"/>
              </a:rPr>
              <a:t> Fully sufficient to calculate reliable means, standard deviations, and latency percentiles (P50/P90/P99).</a:t>
            </a:r>
            <a:endParaRPr lang="en-US" altLang="zh-CN" sz="1200" b="0" i="0" dirty="0">
              <a:effectLst/>
              <a:latin typeface="ui-sans-serif"/>
            </a:endParaRPr>
          </a:p>
          <a:p>
            <a:pPr marL="171450" indent="-171450" algn="l">
              <a:buFont typeface="Arial" panose="020B0604020202020204" pitchFamily="34" charset="0"/>
              <a:buChar char="•"/>
            </a:pPr>
            <a:r>
              <a:rPr lang="zh-CN" altLang="zh-CN" sz="1200" b="1" i="0" dirty="0">
                <a:effectLst/>
                <a:latin typeface="ui-sans-serif"/>
              </a:rPr>
              <a:t>Significance Testing:</a:t>
            </a:r>
            <a:r>
              <a:rPr lang="zh-CN" altLang="zh-CN" sz="1200" b="0" i="0" dirty="0">
                <a:effectLst/>
                <a:latin typeface="ui-sans-serif"/>
              </a:rPr>
              <a:t> Satisfies the sample size requirements for non-parametric statistical evaluations (e.g., the Friedman test).</a:t>
            </a:r>
            <a:endParaRPr lang="zh-CN" altLang="zh-CN" sz="1050" b="0" i="0" dirty="0">
              <a:effectLst/>
              <a:latin typeface="ui-sans-serif"/>
            </a:endParaRPr>
          </a:p>
        </p:txBody>
      </p:sp>
    </p:spTree>
    <p:extLst>
      <p:ext uri="{BB962C8B-B14F-4D97-AF65-F5344CB8AC3E}">
        <p14:creationId xmlns:p14="http://schemas.microsoft.com/office/powerpoint/2010/main" val="737363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2C181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lgn="l">
              <a:buNone/>
            </a:pPr>
            <a:r>
              <a:rPr lang="en-US" sz="3000" b="1" dirty="0">
                <a:solidFill>
                  <a:srgbClr val="F0C080"/>
                </a:solidFill>
                <a:latin typeface="Cambria" pitchFamily="34" charset="0"/>
                <a:ea typeface="Cambria" pitchFamily="34" charset="-122"/>
                <a:cs typeface="Cambria" pitchFamily="34" charset="-120"/>
              </a:rPr>
              <a:t>Full Evaluation Pipeline — Steps &amp; Outputs</a:t>
            </a:r>
            <a:endParaRPr lang="en-US" sz="3000" dirty="0"/>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Shape 2"/>
          <p:cNvSpPr/>
          <p:nvPr/>
        </p:nvSpPr>
        <p:spPr>
          <a:xfrm>
            <a:off x="320040" y="896112"/>
            <a:ext cx="8503920" cy="786384"/>
          </a:xfrm>
          <a:prstGeom prst="roundRect">
            <a:avLst>
              <a:gd name="adj" fmla="val 9302"/>
            </a:avLst>
          </a:prstGeom>
          <a:solidFill>
            <a:srgbClr val="2E4A2E"/>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5" name="Shape 3"/>
          <p:cNvSpPr/>
          <p:nvPr/>
        </p:nvSpPr>
        <p:spPr>
          <a:xfrm>
            <a:off x="320040" y="896112"/>
            <a:ext cx="8503920" cy="786384"/>
          </a:xfrm>
          <a:prstGeom prst="roundRect">
            <a:avLst>
              <a:gd name="adj" fmla="val 9302"/>
            </a:avLst>
          </a:prstGeom>
          <a:solidFill>
            <a:srgbClr val="2E4A2E"/>
          </a:solidFill>
          <a:ln w="12700">
            <a:solidFill>
              <a:srgbClr val="4CAF50"/>
            </a:solidFill>
            <a:prstDash val="solid"/>
          </a:ln>
        </p:spPr>
        <p:txBody>
          <a:bodyPr/>
          <a:lstStyle/>
          <a:p>
            <a:endParaRPr lang="zh-CN" altLang="en-US"/>
          </a:p>
        </p:txBody>
      </p:sp>
      <p:sp>
        <p:nvSpPr>
          <p:cNvPr id="6" name="Shape 4"/>
          <p:cNvSpPr/>
          <p:nvPr/>
        </p:nvSpPr>
        <p:spPr>
          <a:xfrm>
            <a:off x="384048" y="1161288"/>
            <a:ext cx="256032" cy="292608"/>
          </a:xfrm>
          <a:prstGeom prst="roundRect">
            <a:avLst>
              <a:gd name="adj" fmla="val 21429"/>
            </a:avLst>
          </a:prstGeom>
          <a:solidFill>
            <a:srgbClr val="4CAF50"/>
          </a:solidFill>
          <a:ln w="12700">
            <a:solidFill>
              <a:srgbClr val="4CAF50"/>
            </a:solidFill>
            <a:prstDash val="solid"/>
          </a:ln>
        </p:spPr>
        <p:txBody>
          <a:bodyPr/>
          <a:lstStyle/>
          <a:p>
            <a:endParaRPr lang="zh-CN" altLang="en-US"/>
          </a:p>
        </p:txBody>
      </p:sp>
      <p:sp>
        <p:nvSpPr>
          <p:cNvPr id="7" name="Text 5"/>
          <p:cNvSpPr/>
          <p:nvPr/>
        </p:nvSpPr>
        <p:spPr>
          <a:xfrm>
            <a:off x="384048" y="1161288"/>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p:nvPr/>
        </p:nvSpPr>
        <p:spPr>
          <a:xfrm>
            <a:off x="713232" y="932688"/>
            <a:ext cx="2834640" cy="274320"/>
          </a:xfrm>
          <a:prstGeom prst="rect">
            <a:avLst/>
          </a:prstGeom>
          <a:noFill/>
          <a:ln/>
        </p:spPr>
        <p:txBody>
          <a:bodyPr wrap="square" lIns="0" tIns="0" rIns="0" bIns="0" rtlCol="0" anchor="ctr"/>
          <a:lstStyle/>
          <a:p>
            <a:pPr marL="0" indent="0">
              <a:buNone/>
            </a:pPr>
            <a:r>
              <a:rPr lang="en-US" sz="1150" b="1" dirty="0">
                <a:solidFill>
                  <a:srgbClr val="A5D6A7"/>
                </a:solidFill>
                <a:latin typeface="Calibri" pitchFamily="34" charset="0"/>
                <a:ea typeface="Calibri" pitchFamily="34" charset="-122"/>
                <a:cs typeface="Calibri" pitchFamily="34" charset="-120"/>
              </a:rPr>
              <a:t>Preparation  (DONE ✓)</a:t>
            </a:r>
            <a:endParaRPr lang="en-US" sz="1150" dirty="0"/>
          </a:p>
        </p:txBody>
      </p:sp>
      <p:sp>
        <p:nvSpPr>
          <p:cNvPr id="9" name="Text 7"/>
          <p:cNvSpPr/>
          <p:nvPr/>
        </p:nvSpPr>
        <p:spPr>
          <a:xfrm>
            <a:off x="713232" y="1197864"/>
            <a:ext cx="7776620" cy="420624"/>
          </a:xfrm>
          <a:prstGeom prst="rect">
            <a:avLst/>
          </a:prstGeom>
          <a:noFill/>
          <a:ln/>
        </p:spPr>
        <p:txBody>
          <a:bodyPr wrap="square" lIns="0" tIns="0" rIns="0" bIns="0" rtlCol="0" anchor="ctr"/>
          <a:lstStyle/>
          <a:p>
            <a:pPr marL="0" indent="0">
              <a:buNone/>
            </a:pPr>
            <a:r>
              <a:rPr lang="en-US" sz="1000" dirty="0">
                <a:solidFill>
                  <a:srgbClr val="B0A090"/>
                </a:solidFill>
                <a:latin typeface="Calibri" pitchFamily="34" charset="0"/>
                <a:ea typeface="Calibri" pitchFamily="34" charset="-122"/>
                <a:cs typeface="Calibri" pitchFamily="34" charset="-120"/>
              </a:rPr>
              <a:t>5 models pulled to Ollama   ·   LDWS prompts.json generated   ·   GPU/CPU device detection → device_map.json</a:t>
            </a:r>
            <a:endParaRPr lang="en-US" sz="1000" dirty="0"/>
          </a:p>
        </p:txBody>
      </p:sp>
      <p:sp>
        <p:nvSpPr>
          <p:cNvPr id="10" name="Shape 8"/>
          <p:cNvSpPr/>
          <p:nvPr/>
        </p:nvSpPr>
        <p:spPr>
          <a:xfrm>
            <a:off x="320040" y="1737360"/>
            <a:ext cx="8503920" cy="786384"/>
          </a:xfrm>
          <a:prstGeom prst="roundRect">
            <a:avLst>
              <a:gd name="adj" fmla="val 9302"/>
            </a:avLst>
          </a:prstGeom>
          <a:solidFill>
            <a:srgbClr val="3D2315"/>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1" name="Shape 9"/>
          <p:cNvSpPr/>
          <p:nvPr/>
        </p:nvSpPr>
        <p:spPr>
          <a:xfrm>
            <a:off x="320040" y="1737360"/>
            <a:ext cx="8503920" cy="786384"/>
          </a:xfrm>
          <a:prstGeom prst="roundRect">
            <a:avLst>
              <a:gd name="adj" fmla="val 9302"/>
            </a:avLst>
          </a:prstGeom>
          <a:solidFill>
            <a:srgbClr val="3D2315"/>
          </a:solidFill>
          <a:ln w="12700">
            <a:solidFill>
              <a:srgbClr val="D4813A"/>
            </a:solidFill>
            <a:prstDash val="solid"/>
          </a:ln>
        </p:spPr>
        <p:txBody>
          <a:bodyPr/>
          <a:lstStyle/>
          <a:p>
            <a:endParaRPr lang="zh-CN" altLang="en-US"/>
          </a:p>
        </p:txBody>
      </p:sp>
      <p:sp>
        <p:nvSpPr>
          <p:cNvPr id="12" name="Shape 10"/>
          <p:cNvSpPr/>
          <p:nvPr/>
        </p:nvSpPr>
        <p:spPr>
          <a:xfrm>
            <a:off x="384048" y="2002536"/>
            <a:ext cx="256032" cy="292608"/>
          </a:xfrm>
          <a:prstGeom prst="roundRect">
            <a:avLst>
              <a:gd name="adj" fmla="val 21429"/>
            </a:avLst>
          </a:prstGeom>
          <a:solidFill>
            <a:srgbClr val="B85042"/>
          </a:solidFill>
          <a:ln w="12700">
            <a:solidFill>
              <a:srgbClr val="B85042"/>
            </a:solidFill>
            <a:prstDash val="solid"/>
          </a:ln>
        </p:spPr>
        <p:txBody>
          <a:bodyPr/>
          <a:lstStyle/>
          <a:p>
            <a:endParaRPr lang="zh-CN" altLang="en-US"/>
          </a:p>
        </p:txBody>
      </p:sp>
      <p:sp>
        <p:nvSpPr>
          <p:cNvPr id="13" name="Text 11"/>
          <p:cNvSpPr/>
          <p:nvPr/>
        </p:nvSpPr>
        <p:spPr>
          <a:xfrm>
            <a:off x="384048" y="2002536"/>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713232" y="1773936"/>
            <a:ext cx="2834640" cy="274320"/>
          </a:xfrm>
          <a:prstGeom prst="rect">
            <a:avLst/>
          </a:prstGeom>
          <a:noFill/>
          <a:ln/>
        </p:spPr>
        <p:txBody>
          <a:bodyPr wrap="square" lIns="0" tIns="0" rIns="0" bIns="0" rtlCol="0" anchor="ctr"/>
          <a:lstStyle/>
          <a:p>
            <a:pPr marL="0" indent="0">
              <a:buNone/>
            </a:pPr>
            <a:r>
              <a:rPr lang="en-US" sz="1150" b="1" dirty="0">
                <a:solidFill>
                  <a:srgbClr val="F0C080"/>
                </a:solidFill>
                <a:latin typeface="Calibri" pitchFamily="34" charset="0"/>
                <a:ea typeface="Calibri" pitchFamily="34" charset="-122"/>
                <a:cs typeface="Calibri" pitchFamily="34" charset="-120"/>
              </a:rPr>
              <a:t>Performance  (benchmark_eval.py)</a:t>
            </a:r>
            <a:endParaRPr lang="en-US" sz="1150" dirty="0"/>
          </a:p>
        </p:txBody>
      </p:sp>
      <p:sp>
        <p:nvSpPr>
          <p:cNvPr id="15" name="Text 13"/>
          <p:cNvSpPr/>
          <p:nvPr/>
        </p:nvSpPr>
        <p:spPr>
          <a:xfrm>
            <a:off x="713232" y="2039112"/>
            <a:ext cx="2880360" cy="420624"/>
          </a:xfrm>
          <a:prstGeom prst="rect">
            <a:avLst/>
          </a:prstGeom>
          <a:noFill/>
          <a:ln/>
        </p:spPr>
        <p:txBody>
          <a:bodyPr wrap="square" lIns="0" tIns="0" rIns="0" bIns="0" rtlCol="0" anchor="ctr"/>
          <a:lstStyle/>
          <a:p>
            <a:pPr marL="0" indent="0">
              <a:buNone/>
            </a:pPr>
            <a:r>
              <a:rPr lang="en-US" sz="1000" dirty="0">
                <a:solidFill>
                  <a:srgbClr val="B0A090"/>
                </a:solidFill>
                <a:latin typeface="Calibri" pitchFamily="34" charset="0"/>
                <a:ea typeface="Calibri" pitchFamily="34" charset="-122"/>
                <a:cs typeface="Calibri" pitchFamily="34" charset="-120"/>
              </a:rPr>
              <a:t>3 runs × 3 scenarios × 5 models × 50 prompts   ·   Status: test run successful — full run pending</a:t>
            </a:r>
            <a:endParaRPr lang="en-US" sz="1000" dirty="0"/>
          </a:p>
        </p:txBody>
      </p:sp>
      <p:sp>
        <p:nvSpPr>
          <p:cNvPr id="16" name="Text 14"/>
          <p:cNvSpPr/>
          <p:nvPr/>
        </p:nvSpPr>
        <p:spPr>
          <a:xfrm>
            <a:off x="3703320" y="1773936"/>
            <a:ext cx="658368" cy="237744"/>
          </a:xfrm>
          <a:prstGeom prst="rect">
            <a:avLst/>
          </a:prstGeom>
          <a:noFill/>
          <a:ln/>
        </p:spPr>
        <p:txBody>
          <a:bodyPr wrap="square" lIns="0" tIns="0" rIns="0" bIns="0" rtlCol="0" anchor="ctr"/>
          <a:lstStyle/>
          <a:p>
            <a:pPr marL="0" indent="0">
              <a:buNone/>
            </a:pPr>
            <a:r>
              <a:rPr lang="en-US" sz="950" b="1" dirty="0">
                <a:solidFill>
                  <a:srgbClr val="D4813A"/>
                </a:solidFill>
                <a:latin typeface="Calibri" pitchFamily="34" charset="0"/>
                <a:ea typeface="Calibri" pitchFamily="34" charset="-122"/>
                <a:cs typeface="Calibri" pitchFamily="34" charset="-120"/>
              </a:rPr>
              <a:t>Output →</a:t>
            </a:r>
            <a:endParaRPr lang="en-US" sz="950" dirty="0"/>
          </a:p>
        </p:txBody>
      </p:sp>
      <p:sp>
        <p:nvSpPr>
          <p:cNvPr id="17" name="Text 15"/>
          <p:cNvSpPr/>
          <p:nvPr/>
        </p:nvSpPr>
        <p:spPr>
          <a:xfrm>
            <a:off x="4370832" y="1773936"/>
            <a:ext cx="4343400" cy="694944"/>
          </a:xfrm>
          <a:prstGeom prst="rect">
            <a:avLst/>
          </a:prstGeom>
          <a:noFill/>
          <a:ln/>
        </p:spPr>
        <p:txBody>
          <a:bodyPr wrap="square" lIns="0" tIns="0" rIns="0" bIns="0" rtlCol="0" anchor="ctr"/>
          <a:lstStyle/>
          <a:p>
            <a:pPr marL="0" indent="0">
              <a:buNone/>
            </a:pPr>
            <a:r>
              <a:rPr lang="en-US" sz="1000" dirty="0">
                <a:solidFill>
                  <a:srgbClr val="F7F3EE"/>
                </a:solidFill>
                <a:latin typeface="Calibri" pitchFamily="34" charset="0"/>
                <a:ea typeface="Calibri" pitchFamily="34" charset="-122"/>
                <a:cs typeface="Calibri" pitchFamily="34" charset="-120"/>
              </a:rPr>
              <a:t>runtime_results.csv (7,500 rows)  ·  summary.csv (15 rows)  →  latency / throughput / RAM / energy / stability charts &amp; Friedman test</a:t>
            </a:r>
            <a:endParaRPr lang="en-US" sz="1000" dirty="0"/>
          </a:p>
        </p:txBody>
      </p:sp>
      <p:sp>
        <p:nvSpPr>
          <p:cNvPr id="18" name="Shape 16"/>
          <p:cNvSpPr/>
          <p:nvPr/>
        </p:nvSpPr>
        <p:spPr>
          <a:xfrm>
            <a:off x="320040" y="2578608"/>
            <a:ext cx="8503920" cy="786384"/>
          </a:xfrm>
          <a:prstGeom prst="roundRect">
            <a:avLst>
              <a:gd name="adj" fmla="val 9302"/>
            </a:avLst>
          </a:prstGeom>
          <a:solidFill>
            <a:srgbClr val="3D2315"/>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9" name="Shape 17"/>
          <p:cNvSpPr/>
          <p:nvPr/>
        </p:nvSpPr>
        <p:spPr>
          <a:xfrm>
            <a:off x="320040" y="2578608"/>
            <a:ext cx="8503920" cy="786384"/>
          </a:xfrm>
          <a:prstGeom prst="roundRect">
            <a:avLst>
              <a:gd name="adj" fmla="val 9302"/>
            </a:avLst>
          </a:prstGeom>
          <a:solidFill>
            <a:srgbClr val="3D2315"/>
          </a:solidFill>
          <a:ln w="12700">
            <a:solidFill>
              <a:srgbClr val="D4813A"/>
            </a:solidFill>
            <a:prstDash val="solid"/>
          </a:ln>
        </p:spPr>
        <p:txBody>
          <a:bodyPr/>
          <a:lstStyle/>
          <a:p>
            <a:endParaRPr lang="zh-CN" altLang="en-US"/>
          </a:p>
        </p:txBody>
      </p:sp>
      <p:sp>
        <p:nvSpPr>
          <p:cNvPr id="20" name="Shape 18"/>
          <p:cNvSpPr/>
          <p:nvPr/>
        </p:nvSpPr>
        <p:spPr>
          <a:xfrm>
            <a:off x="384048" y="2843784"/>
            <a:ext cx="256032" cy="292608"/>
          </a:xfrm>
          <a:prstGeom prst="roundRect">
            <a:avLst>
              <a:gd name="adj" fmla="val 21429"/>
            </a:avLst>
          </a:prstGeom>
          <a:solidFill>
            <a:srgbClr val="B85042"/>
          </a:solidFill>
          <a:ln w="12700">
            <a:solidFill>
              <a:srgbClr val="B85042"/>
            </a:solidFill>
            <a:prstDash val="solid"/>
          </a:ln>
        </p:spPr>
        <p:txBody>
          <a:bodyPr/>
          <a:lstStyle/>
          <a:p>
            <a:endParaRPr lang="zh-CN" altLang="en-US"/>
          </a:p>
        </p:txBody>
      </p:sp>
      <p:sp>
        <p:nvSpPr>
          <p:cNvPr id="21" name="Text 19"/>
          <p:cNvSpPr/>
          <p:nvPr/>
        </p:nvSpPr>
        <p:spPr>
          <a:xfrm>
            <a:off x="384048" y="2843784"/>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713232" y="2615184"/>
            <a:ext cx="2834640" cy="274320"/>
          </a:xfrm>
          <a:prstGeom prst="rect">
            <a:avLst/>
          </a:prstGeom>
          <a:noFill/>
          <a:ln/>
        </p:spPr>
        <p:txBody>
          <a:bodyPr wrap="square" lIns="0" tIns="0" rIns="0" bIns="0" rtlCol="0" anchor="ctr"/>
          <a:lstStyle/>
          <a:p>
            <a:pPr marL="0" indent="0">
              <a:buNone/>
            </a:pPr>
            <a:r>
              <a:rPr lang="en-US" sz="1150" b="1" dirty="0">
                <a:solidFill>
                  <a:srgbClr val="F0C080"/>
                </a:solidFill>
                <a:latin typeface="Calibri" pitchFamily="34" charset="0"/>
                <a:ea typeface="Calibri" pitchFamily="34" charset="-122"/>
                <a:cs typeface="Calibri" pitchFamily="34" charset="-120"/>
              </a:rPr>
              <a:t>Capability  (lm-evaluation-harness)</a:t>
            </a:r>
            <a:endParaRPr lang="en-US" sz="1150" dirty="0"/>
          </a:p>
        </p:txBody>
      </p:sp>
      <p:sp>
        <p:nvSpPr>
          <p:cNvPr id="23" name="Text 21"/>
          <p:cNvSpPr/>
          <p:nvPr/>
        </p:nvSpPr>
        <p:spPr>
          <a:xfrm>
            <a:off x="713232" y="2880360"/>
            <a:ext cx="2880360" cy="420624"/>
          </a:xfrm>
          <a:prstGeom prst="rect">
            <a:avLst/>
          </a:prstGeom>
          <a:noFill/>
          <a:ln/>
        </p:spPr>
        <p:txBody>
          <a:bodyPr wrap="square" lIns="0" tIns="0" rIns="0" bIns="0" rtlCol="0" anchor="ctr"/>
          <a:lstStyle/>
          <a:p>
            <a:pPr marL="0" indent="0">
              <a:buNone/>
            </a:pPr>
            <a:r>
              <a:rPr lang="en-US" sz="1000" dirty="0">
                <a:solidFill>
                  <a:srgbClr val="B0A090"/>
                </a:solidFill>
                <a:latin typeface="Calibri" pitchFamily="34" charset="0"/>
                <a:ea typeface="Calibri" pitchFamily="34" charset="-122"/>
                <a:cs typeface="Calibri" pitchFamily="34" charset="-120"/>
              </a:rPr>
              <a:t>MMLU · GSM8K · ARC-Challenge · HellaSwag   ·   Status: pending</a:t>
            </a:r>
            <a:endParaRPr lang="en-US" sz="1000" dirty="0"/>
          </a:p>
        </p:txBody>
      </p:sp>
      <p:sp>
        <p:nvSpPr>
          <p:cNvPr id="24" name="Text 22"/>
          <p:cNvSpPr/>
          <p:nvPr/>
        </p:nvSpPr>
        <p:spPr>
          <a:xfrm>
            <a:off x="3703320" y="2615184"/>
            <a:ext cx="658368" cy="237744"/>
          </a:xfrm>
          <a:prstGeom prst="rect">
            <a:avLst/>
          </a:prstGeom>
          <a:noFill/>
          <a:ln/>
        </p:spPr>
        <p:txBody>
          <a:bodyPr wrap="square" lIns="0" tIns="0" rIns="0" bIns="0" rtlCol="0" anchor="ctr"/>
          <a:lstStyle/>
          <a:p>
            <a:pPr marL="0" indent="0">
              <a:buNone/>
            </a:pPr>
            <a:r>
              <a:rPr lang="en-US" sz="950" b="1" dirty="0">
                <a:solidFill>
                  <a:srgbClr val="D4813A"/>
                </a:solidFill>
                <a:latin typeface="Calibri" pitchFamily="34" charset="0"/>
                <a:ea typeface="Calibri" pitchFamily="34" charset="-122"/>
                <a:cs typeface="Calibri" pitchFamily="34" charset="-120"/>
              </a:rPr>
              <a:t>Output →</a:t>
            </a:r>
            <a:endParaRPr lang="en-US" sz="950" dirty="0"/>
          </a:p>
        </p:txBody>
      </p:sp>
      <p:sp>
        <p:nvSpPr>
          <p:cNvPr id="25" name="Text 23"/>
          <p:cNvSpPr/>
          <p:nvPr/>
        </p:nvSpPr>
        <p:spPr>
          <a:xfrm>
            <a:off x="4370832" y="2615184"/>
            <a:ext cx="4343400" cy="694944"/>
          </a:xfrm>
          <a:prstGeom prst="rect">
            <a:avLst/>
          </a:prstGeom>
          <a:noFill/>
          <a:ln/>
        </p:spPr>
        <p:txBody>
          <a:bodyPr wrap="square" lIns="0" tIns="0" rIns="0" bIns="0" rtlCol="0" anchor="ctr"/>
          <a:lstStyle/>
          <a:p>
            <a:pPr marL="0" indent="0">
              <a:buNone/>
            </a:pPr>
            <a:r>
              <a:rPr lang="en-US" sz="1000" dirty="0">
                <a:solidFill>
                  <a:srgbClr val="F7F3EE"/>
                </a:solidFill>
                <a:latin typeface="Calibri" pitchFamily="34" charset="0"/>
                <a:ea typeface="Calibri" pitchFamily="34" charset="-122"/>
                <a:cs typeface="Calibri" pitchFamily="34" charset="-120"/>
              </a:rPr>
              <a:t>Accuracy (%) per model × benchmark  →  comparison with GPT-4 / LLaMA-70B baselines · Pareto analysis</a:t>
            </a:r>
            <a:endParaRPr lang="en-US" sz="1000" dirty="0"/>
          </a:p>
        </p:txBody>
      </p:sp>
      <p:sp>
        <p:nvSpPr>
          <p:cNvPr id="26" name="Shape 24"/>
          <p:cNvSpPr/>
          <p:nvPr/>
        </p:nvSpPr>
        <p:spPr>
          <a:xfrm>
            <a:off x="320040" y="3419856"/>
            <a:ext cx="8503920" cy="786384"/>
          </a:xfrm>
          <a:prstGeom prst="roundRect">
            <a:avLst>
              <a:gd name="adj" fmla="val 9302"/>
            </a:avLst>
          </a:prstGeom>
          <a:solidFill>
            <a:srgbClr val="3D2315"/>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27" name="Shape 25"/>
          <p:cNvSpPr/>
          <p:nvPr/>
        </p:nvSpPr>
        <p:spPr>
          <a:xfrm>
            <a:off x="320040" y="3419856"/>
            <a:ext cx="8503920" cy="786384"/>
          </a:xfrm>
          <a:prstGeom prst="roundRect">
            <a:avLst>
              <a:gd name="adj" fmla="val 9302"/>
            </a:avLst>
          </a:prstGeom>
          <a:solidFill>
            <a:srgbClr val="3D2315"/>
          </a:solidFill>
          <a:ln w="12700">
            <a:solidFill>
              <a:srgbClr val="D4813A"/>
            </a:solidFill>
            <a:prstDash val="solid"/>
          </a:ln>
        </p:spPr>
        <p:txBody>
          <a:bodyPr/>
          <a:lstStyle/>
          <a:p>
            <a:endParaRPr lang="zh-CN" altLang="en-US"/>
          </a:p>
        </p:txBody>
      </p:sp>
      <p:sp>
        <p:nvSpPr>
          <p:cNvPr id="28" name="Shape 26"/>
          <p:cNvSpPr/>
          <p:nvPr/>
        </p:nvSpPr>
        <p:spPr>
          <a:xfrm>
            <a:off x="384048" y="3685032"/>
            <a:ext cx="256032" cy="292608"/>
          </a:xfrm>
          <a:prstGeom prst="roundRect">
            <a:avLst>
              <a:gd name="adj" fmla="val 21429"/>
            </a:avLst>
          </a:prstGeom>
          <a:solidFill>
            <a:srgbClr val="B85042"/>
          </a:solidFill>
          <a:ln w="12700">
            <a:solidFill>
              <a:srgbClr val="B85042"/>
            </a:solidFill>
            <a:prstDash val="solid"/>
          </a:ln>
        </p:spPr>
        <p:txBody>
          <a:bodyPr/>
          <a:lstStyle/>
          <a:p>
            <a:endParaRPr lang="zh-CN" altLang="en-US"/>
          </a:p>
        </p:txBody>
      </p:sp>
      <p:sp>
        <p:nvSpPr>
          <p:cNvPr id="29" name="Text 27"/>
          <p:cNvSpPr/>
          <p:nvPr/>
        </p:nvSpPr>
        <p:spPr>
          <a:xfrm>
            <a:off x="384048" y="3685032"/>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Text 28"/>
          <p:cNvSpPr/>
          <p:nvPr/>
        </p:nvSpPr>
        <p:spPr>
          <a:xfrm>
            <a:off x="713232" y="3456432"/>
            <a:ext cx="2834640" cy="274320"/>
          </a:xfrm>
          <a:prstGeom prst="rect">
            <a:avLst/>
          </a:prstGeom>
          <a:noFill/>
          <a:ln/>
        </p:spPr>
        <p:txBody>
          <a:bodyPr wrap="square" lIns="0" tIns="0" rIns="0" bIns="0" rtlCol="0" anchor="ctr"/>
          <a:lstStyle/>
          <a:p>
            <a:pPr marL="0" indent="0">
              <a:buNone/>
            </a:pPr>
            <a:r>
              <a:rPr lang="en-US" sz="1150" b="1" dirty="0">
                <a:solidFill>
                  <a:srgbClr val="F0C080"/>
                </a:solidFill>
                <a:latin typeface="Calibri" pitchFamily="34" charset="0"/>
                <a:ea typeface="Calibri" pitchFamily="34" charset="-122"/>
                <a:cs typeface="Calibri" pitchFamily="34" charset="-120"/>
              </a:rPr>
              <a:t>Tool Calling  (bfcl_eval.py)</a:t>
            </a:r>
            <a:endParaRPr lang="en-US" sz="1150" dirty="0"/>
          </a:p>
        </p:txBody>
      </p:sp>
      <p:sp>
        <p:nvSpPr>
          <p:cNvPr id="31" name="Text 29"/>
          <p:cNvSpPr/>
          <p:nvPr/>
        </p:nvSpPr>
        <p:spPr>
          <a:xfrm>
            <a:off x="713232" y="3721608"/>
            <a:ext cx="2880360" cy="420624"/>
          </a:xfrm>
          <a:prstGeom prst="rect">
            <a:avLst/>
          </a:prstGeom>
          <a:noFill/>
          <a:ln/>
        </p:spPr>
        <p:txBody>
          <a:bodyPr wrap="square" lIns="0" tIns="0" rIns="0" bIns="0" rtlCol="0" anchor="ctr"/>
          <a:lstStyle/>
          <a:p>
            <a:pPr marL="0" indent="0">
              <a:buNone/>
            </a:pPr>
            <a:r>
              <a:rPr lang="en-US" sz="1000" dirty="0">
                <a:solidFill>
                  <a:srgbClr val="B0A090"/>
                </a:solidFill>
                <a:latin typeface="Calibri" pitchFamily="34" charset="0"/>
                <a:ea typeface="Calibri" pitchFamily="34" charset="-122"/>
                <a:cs typeface="Calibri" pitchFamily="34" charset="-120"/>
              </a:rPr>
              <a:t>BFCL dataset · Serial scenario only   ·   Status: script to be developed</a:t>
            </a:r>
            <a:endParaRPr lang="en-US" sz="1000" dirty="0"/>
          </a:p>
        </p:txBody>
      </p:sp>
      <p:sp>
        <p:nvSpPr>
          <p:cNvPr id="32" name="Text 30"/>
          <p:cNvSpPr/>
          <p:nvPr/>
        </p:nvSpPr>
        <p:spPr>
          <a:xfrm>
            <a:off x="3703320" y="3456432"/>
            <a:ext cx="658368" cy="237744"/>
          </a:xfrm>
          <a:prstGeom prst="rect">
            <a:avLst/>
          </a:prstGeom>
          <a:noFill/>
          <a:ln/>
        </p:spPr>
        <p:txBody>
          <a:bodyPr wrap="square" lIns="0" tIns="0" rIns="0" bIns="0" rtlCol="0" anchor="ctr"/>
          <a:lstStyle/>
          <a:p>
            <a:pPr marL="0" indent="0">
              <a:buNone/>
            </a:pPr>
            <a:r>
              <a:rPr lang="en-US" sz="950" b="1" dirty="0">
                <a:solidFill>
                  <a:srgbClr val="D4813A"/>
                </a:solidFill>
                <a:latin typeface="Calibri" pitchFamily="34" charset="0"/>
                <a:ea typeface="Calibri" pitchFamily="34" charset="-122"/>
                <a:cs typeface="Calibri" pitchFamily="34" charset="-120"/>
              </a:rPr>
              <a:t>Output →</a:t>
            </a:r>
            <a:endParaRPr lang="en-US" sz="950" dirty="0"/>
          </a:p>
        </p:txBody>
      </p:sp>
      <p:sp>
        <p:nvSpPr>
          <p:cNvPr id="33" name="Text 31"/>
          <p:cNvSpPr/>
          <p:nvPr/>
        </p:nvSpPr>
        <p:spPr>
          <a:xfrm>
            <a:off x="4370832" y="3456432"/>
            <a:ext cx="4343400" cy="694944"/>
          </a:xfrm>
          <a:prstGeom prst="rect">
            <a:avLst/>
          </a:prstGeom>
          <a:noFill/>
          <a:ln/>
        </p:spPr>
        <p:txBody>
          <a:bodyPr wrap="square" lIns="0" tIns="0" rIns="0" bIns="0" rtlCol="0" anchor="ctr"/>
          <a:lstStyle/>
          <a:p>
            <a:pPr marL="0" indent="0">
              <a:buNone/>
            </a:pPr>
            <a:r>
              <a:rPr lang="en-US" sz="1000" dirty="0">
                <a:solidFill>
                  <a:srgbClr val="F7F3EE"/>
                </a:solidFill>
                <a:latin typeface="Calibri" pitchFamily="34" charset="0"/>
                <a:ea typeface="Calibri" pitchFamily="34" charset="-122"/>
                <a:cs typeface="Calibri" pitchFamily="34" charset="-120"/>
              </a:rPr>
              <a:t>Tool-selection accuracy · Parameter accuracy · JSON compliance rate  →  parameter-scale threshold finding</a:t>
            </a:r>
            <a:endParaRPr lang="en-US" sz="1000" dirty="0"/>
          </a:p>
        </p:txBody>
      </p:sp>
      <p:sp>
        <p:nvSpPr>
          <p:cNvPr id="34" name="Shape 32"/>
          <p:cNvSpPr/>
          <p:nvPr/>
        </p:nvSpPr>
        <p:spPr>
          <a:xfrm>
            <a:off x="320040" y="4261104"/>
            <a:ext cx="8503920" cy="786384"/>
          </a:xfrm>
          <a:prstGeom prst="roundRect">
            <a:avLst>
              <a:gd name="adj" fmla="val 9302"/>
            </a:avLst>
          </a:prstGeom>
          <a:solidFill>
            <a:srgbClr val="3D2315"/>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35" name="Shape 33"/>
          <p:cNvSpPr/>
          <p:nvPr/>
        </p:nvSpPr>
        <p:spPr>
          <a:xfrm>
            <a:off x="320040" y="4261104"/>
            <a:ext cx="8503920" cy="786384"/>
          </a:xfrm>
          <a:prstGeom prst="roundRect">
            <a:avLst>
              <a:gd name="adj" fmla="val 9302"/>
            </a:avLst>
          </a:prstGeom>
          <a:solidFill>
            <a:srgbClr val="3D2315"/>
          </a:solidFill>
          <a:ln w="12700">
            <a:solidFill>
              <a:srgbClr val="D4813A"/>
            </a:solidFill>
            <a:prstDash val="solid"/>
          </a:ln>
        </p:spPr>
        <p:txBody>
          <a:bodyPr/>
          <a:lstStyle/>
          <a:p>
            <a:endParaRPr lang="zh-CN" altLang="en-US"/>
          </a:p>
        </p:txBody>
      </p:sp>
      <p:sp>
        <p:nvSpPr>
          <p:cNvPr id="36" name="Shape 34"/>
          <p:cNvSpPr/>
          <p:nvPr/>
        </p:nvSpPr>
        <p:spPr>
          <a:xfrm>
            <a:off x="384048" y="4526280"/>
            <a:ext cx="256032" cy="292608"/>
          </a:xfrm>
          <a:prstGeom prst="roundRect">
            <a:avLst>
              <a:gd name="adj" fmla="val 21429"/>
            </a:avLst>
          </a:prstGeom>
          <a:solidFill>
            <a:srgbClr val="B85042"/>
          </a:solidFill>
          <a:ln w="12700">
            <a:solidFill>
              <a:srgbClr val="B85042"/>
            </a:solidFill>
            <a:prstDash val="solid"/>
          </a:ln>
        </p:spPr>
        <p:txBody>
          <a:bodyPr/>
          <a:lstStyle/>
          <a:p>
            <a:endParaRPr lang="zh-CN" altLang="en-US"/>
          </a:p>
        </p:txBody>
      </p:sp>
      <p:sp>
        <p:nvSpPr>
          <p:cNvPr id="37" name="Text 35"/>
          <p:cNvSpPr/>
          <p:nvPr/>
        </p:nvSpPr>
        <p:spPr>
          <a:xfrm>
            <a:off x="384048" y="4526280"/>
            <a:ext cx="25603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8" name="Text 36"/>
          <p:cNvSpPr/>
          <p:nvPr/>
        </p:nvSpPr>
        <p:spPr>
          <a:xfrm>
            <a:off x="713232" y="4297680"/>
            <a:ext cx="2834640" cy="274320"/>
          </a:xfrm>
          <a:prstGeom prst="rect">
            <a:avLst/>
          </a:prstGeom>
          <a:noFill/>
          <a:ln/>
        </p:spPr>
        <p:txBody>
          <a:bodyPr wrap="square" lIns="0" tIns="0" rIns="0" bIns="0" rtlCol="0" anchor="ctr"/>
          <a:lstStyle/>
          <a:p>
            <a:pPr marL="0" indent="0">
              <a:buNone/>
            </a:pPr>
            <a:r>
              <a:rPr lang="en-US" sz="1150" b="1" dirty="0">
                <a:solidFill>
                  <a:srgbClr val="F0C080"/>
                </a:solidFill>
                <a:latin typeface="Calibri" pitchFamily="34" charset="0"/>
                <a:ea typeface="Calibri" pitchFamily="34" charset="-122"/>
                <a:cs typeface="Calibri" pitchFamily="34" charset="-120"/>
              </a:rPr>
              <a:t>Analysis &amp; Visualisation  (analysis.ipynb)</a:t>
            </a:r>
            <a:endParaRPr lang="en-US" sz="1150" dirty="0"/>
          </a:p>
        </p:txBody>
      </p:sp>
      <p:sp>
        <p:nvSpPr>
          <p:cNvPr id="39" name="Text 37"/>
          <p:cNvSpPr/>
          <p:nvPr/>
        </p:nvSpPr>
        <p:spPr>
          <a:xfrm>
            <a:off x="713232" y="4562856"/>
            <a:ext cx="2880360" cy="420624"/>
          </a:xfrm>
          <a:prstGeom prst="rect">
            <a:avLst/>
          </a:prstGeom>
          <a:noFill/>
          <a:ln/>
        </p:spPr>
        <p:txBody>
          <a:bodyPr wrap="square" lIns="0" tIns="0" rIns="0" bIns="0" rtlCol="0" anchor="ctr"/>
          <a:lstStyle/>
          <a:p>
            <a:pPr marL="0" indent="0">
              <a:buNone/>
            </a:pPr>
            <a:r>
              <a:rPr lang="en-US" sz="1000" dirty="0">
                <a:solidFill>
                  <a:srgbClr val="B0A090"/>
                </a:solidFill>
                <a:latin typeface="Calibri" pitchFamily="34" charset="0"/>
                <a:ea typeface="Calibri" pitchFamily="34" charset="-122"/>
                <a:cs typeface="Calibri" pitchFamily="34" charset="-120"/>
              </a:rPr>
              <a:t>Inputs: outputs of Steps 2 + 3 + 4   ·   Status: pending</a:t>
            </a:r>
            <a:endParaRPr lang="en-US" sz="1000" dirty="0"/>
          </a:p>
        </p:txBody>
      </p:sp>
      <p:sp>
        <p:nvSpPr>
          <p:cNvPr id="40" name="Text 38"/>
          <p:cNvSpPr/>
          <p:nvPr/>
        </p:nvSpPr>
        <p:spPr>
          <a:xfrm>
            <a:off x="3703320" y="4297680"/>
            <a:ext cx="658368" cy="237744"/>
          </a:xfrm>
          <a:prstGeom prst="rect">
            <a:avLst/>
          </a:prstGeom>
          <a:noFill/>
          <a:ln/>
        </p:spPr>
        <p:txBody>
          <a:bodyPr wrap="square" lIns="0" tIns="0" rIns="0" bIns="0" rtlCol="0" anchor="ctr"/>
          <a:lstStyle/>
          <a:p>
            <a:pPr marL="0" indent="0">
              <a:buNone/>
            </a:pPr>
            <a:r>
              <a:rPr lang="en-US" sz="950" b="1" dirty="0">
                <a:solidFill>
                  <a:srgbClr val="D4813A"/>
                </a:solidFill>
                <a:latin typeface="Calibri" pitchFamily="34" charset="0"/>
                <a:ea typeface="Calibri" pitchFamily="34" charset="-122"/>
                <a:cs typeface="Calibri" pitchFamily="34" charset="-120"/>
              </a:rPr>
              <a:t>Output →</a:t>
            </a:r>
            <a:endParaRPr lang="en-US" sz="950" dirty="0"/>
          </a:p>
        </p:txBody>
      </p:sp>
      <p:sp>
        <p:nvSpPr>
          <p:cNvPr id="41" name="Text 39"/>
          <p:cNvSpPr/>
          <p:nvPr/>
        </p:nvSpPr>
        <p:spPr>
          <a:xfrm>
            <a:off x="4370832" y="4297680"/>
            <a:ext cx="4343400" cy="694944"/>
          </a:xfrm>
          <a:prstGeom prst="rect">
            <a:avLst/>
          </a:prstGeom>
          <a:noFill/>
          <a:ln/>
        </p:spPr>
        <p:txBody>
          <a:bodyPr wrap="square" lIns="0" tIns="0" rIns="0" bIns="0" rtlCol="0" anchor="ctr"/>
          <a:lstStyle/>
          <a:p>
            <a:pPr marL="0" indent="0">
              <a:buNone/>
            </a:pPr>
            <a:r>
              <a:rPr lang="en-US" sz="1000" dirty="0">
                <a:solidFill>
                  <a:srgbClr val="F7F3EE"/>
                </a:solidFill>
                <a:latin typeface="Calibri" pitchFamily="34" charset="0"/>
                <a:ea typeface="Calibri" pitchFamily="34" charset="-122"/>
                <a:cs typeface="Calibri" pitchFamily="34" charset="-120"/>
              </a:rPr>
              <a:t>Latency/energy/radar charts · Statistical tests  →  Dissertation Results &amp; Discussion chapters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0" y="137160"/>
            <a:ext cx="9140483" cy="566928"/>
          </a:xfrm>
          <a:prstGeom prst="rect">
            <a:avLst/>
          </a:prstGeom>
          <a:noFill/>
          <a:ln/>
        </p:spPr>
        <p:txBody>
          <a:bodyPr wrap="square" lIns="0" tIns="0" rIns="0" bIns="0" rtlCol="0" anchor="ctr"/>
          <a:lstStyle/>
          <a:p>
            <a:pPr marL="0" indent="0" algn="l">
              <a:buNone/>
            </a:pPr>
            <a:r>
              <a:rPr lang="en-US" sz="3000" b="1" dirty="0">
                <a:solidFill>
                  <a:srgbClr val="B85042"/>
                </a:solidFill>
                <a:latin typeface="Cambria" pitchFamily="34" charset="0"/>
                <a:ea typeface="Cambria" pitchFamily="34" charset="-122"/>
                <a:cs typeface="Cambria" pitchFamily="34" charset="-120"/>
              </a:rPr>
              <a:t>benchmark_eval.py — Four-Layer Metrics Collection</a:t>
            </a:r>
            <a:endParaRPr lang="en-US" sz="3000" dirty="0"/>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Shape 2"/>
          <p:cNvSpPr/>
          <p:nvPr/>
        </p:nvSpPr>
        <p:spPr>
          <a:xfrm>
            <a:off x="384048" y="914400"/>
            <a:ext cx="8439912" cy="1855176"/>
          </a:xfrm>
          <a:prstGeom prst="roundRect">
            <a:avLst>
              <a:gd name="adj" fmla="val 7407"/>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5" name="Shape 3"/>
          <p:cNvSpPr/>
          <p:nvPr/>
        </p:nvSpPr>
        <p:spPr>
          <a:xfrm>
            <a:off x="384048" y="1024128"/>
            <a:ext cx="365760" cy="292608"/>
          </a:xfrm>
          <a:prstGeom prst="roundRect">
            <a:avLst>
              <a:gd name="adj" fmla="val 18750"/>
            </a:avLst>
          </a:prstGeom>
          <a:solidFill>
            <a:srgbClr val="B85042"/>
          </a:solidFill>
          <a:ln w="12700">
            <a:solidFill>
              <a:srgbClr val="B85042"/>
            </a:solidFill>
            <a:prstDash val="solid"/>
          </a:ln>
        </p:spPr>
        <p:txBody>
          <a:bodyPr/>
          <a:lstStyle/>
          <a:p>
            <a:endParaRPr lang="zh-CN" altLang="en-US"/>
          </a:p>
        </p:txBody>
      </p:sp>
      <p:sp>
        <p:nvSpPr>
          <p:cNvPr id="6" name="Text 4"/>
          <p:cNvSpPr/>
          <p:nvPr/>
        </p:nvSpPr>
        <p:spPr>
          <a:xfrm>
            <a:off x="384048" y="1024128"/>
            <a:ext cx="3657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L1</a:t>
            </a:r>
            <a:endParaRPr lang="en-US" sz="1000" dirty="0"/>
          </a:p>
        </p:txBody>
      </p:sp>
      <p:sp>
        <p:nvSpPr>
          <p:cNvPr id="7" name="Text 5"/>
          <p:cNvSpPr/>
          <p:nvPr/>
        </p:nvSpPr>
        <p:spPr>
          <a:xfrm>
            <a:off x="822960" y="969264"/>
            <a:ext cx="7909560" cy="2743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Ollama API  →  Inference Performance</a:t>
            </a:r>
            <a:endParaRPr lang="en-US" sz="1200" dirty="0"/>
          </a:p>
        </p:txBody>
      </p:sp>
      <p:sp>
        <p:nvSpPr>
          <p:cNvPr id="8" name="Text 6"/>
          <p:cNvSpPr/>
          <p:nvPr/>
        </p:nvSpPr>
        <p:spPr>
          <a:xfrm>
            <a:off x="868680" y="1242177"/>
            <a:ext cx="7909560" cy="1258004"/>
          </a:xfrm>
          <a:prstGeom prst="rect">
            <a:avLst/>
          </a:prstGeom>
          <a:noFill/>
          <a:ln/>
        </p:spPr>
        <p:txBody>
          <a:bodyPr wrap="square" lIns="0" tIns="0" rIns="0" bIns="0" rtlCol="0" anchor="ctr"/>
          <a:lstStyle/>
          <a:p>
            <a:pPr marL="228600" indent="-228600">
              <a:buFont typeface="+mj-lt"/>
              <a:buAutoNum type="arabicPeriod"/>
            </a:pPr>
            <a:endParaRPr lang="en-US" sz="1200" dirty="0">
              <a:solidFill>
                <a:srgbClr val="5C4A3A"/>
              </a:solidFill>
              <a:latin typeface="Calibri" pitchFamily="34" charset="0"/>
              <a:ea typeface="Calibri" pitchFamily="34" charset="-122"/>
              <a:cs typeface="Calibri" pitchFamily="34" charset="-120"/>
            </a:endParaRPr>
          </a:p>
          <a:p>
            <a:r>
              <a:rPr lang="zh-CN" altLang="zh-CN" sz="1200" dirty="0">
                <a:solidFill>
                  <a:srgbClr val="5C4A3A"/>
                </a:solidFill>
                <a:latin typeface="Calibri" pitchFamily="34" charset="0"/>
                <a:cs typeface="Calibri" pitchFamily="34" charset="-120"/>
              </a:rPr>
              <a:t>Given that Ollama serves as the local inference engine in this work, this benchmark script is designed to directly fetch native API timing metrics from Ollama internally, instead of depending purely on Python-side built-in timers.</a:t>
            </a:r>
            <a:endParaRPr lang="en-US" sz="1200" dirty="0">
              <a:solidFill>
                <a:srgbClr val="5C4A3A"/>
              </a:solidFill>
              <a:latin typeface="Calibri" pitchFamily="34" charset="0"/>
              <a:ea typeface="Calibri" pitchFamily="34" charset="-122"/>
              <a:cs typeface="Calibri" pitchFamily="34" charset="-120"/>
            </a:endParaRPr>
          </a:p>
          <a:p>
            <a:pPr marL="228600" indent="-228600">
              <a:buFont typeface="+mj-lt"/>
              <a:buAutoNum type="arabicPeriod"/>
            </a:pPr>
            <a:r>
              <a:rPr lang="en-US" sz="1200" dirty="0">
                <a:solidFill>
                  <a:srgbClr val="5C4A3A"/>
                </a:solidFill>
                <a:latin typeface="Calibri" pitchFamily="34" charset="0"/>
                <a:ea typeface="Calibri" pitchFamily="34" charset="-122"/>
                <a:cs typeface="Calibri" pitchFamily="34" charset="-120"/>
              </a:rPr>
              <a:t>TTFT (ms) via prompt_eval_duration field  </a:t>
            </a:r>
          </a:p>
          <a:p>
            <a:pPr marL="228600" indent="-228600">
              <a:buFont typeface="+mj-lt"/>
              <a:buAutoNum type="arabicPeriod"/>
            </a:pPr>
            <a:r>
              <a:rPr lang="en-US" sz="1200" dirty="0">
                <a:solidFill>
                  <a:srgbClr val="5C4A3A"/>
                </a:solidFill>
                <a:latin typeface="Calibri" pitchFamily="34" charset="0"/>
                <a:ea typeface="Calibri" pitchFamily="34" charset="-122"/>
                <a:cs typeface="Calibri" pitchFamily="34" charset="-120"/>
              </a:rPr>
              <a:t>E2E Latency via Python wall-clock  </a:t>
            </a:r>
          </a:p>
          <a:p>
            <a:pPr marL="228600" indent="-228600">
              <a:buFont typeface="+mj-lt"/>
              <a:buAutoNum type="arabicPeriod"/>
            </a:pPr>
            <a:r>
              <a:rPr lang="en-US" sz="1200" dirty="0">
                <a:solidFill>
                  <a:srgbClr val="5C4A3A"/>
                </a:solidFill>
                <a:latin typeface="Calibri" pitchFamily="34" charset="0"/>
                <a:ea typeface="Calibri" pitchFamily="34" charset="-122"/>
                <a:cs typeface="Calibri" pitchFamily="34" charset="-120"/>
              </a:rPr>
              <a:t>Decode Speed = eval_count ÷ eval_duration (tok/s)  </a:t>
            </a:r>
          </a:p>
          <a:p>
            <a:pPr marL="228600" indent="-228600">
              <a:buFont typeface="+mj-lt"/>
              <a:buAutoNum type="arabicPeriod"/>
            </a:pPr>
            <a:r>
              <a:rPr lang="en-US" sz="1200" dirty="0">
                <a:solidFill>
                  <a:srgbClr val="5C4A3A"/>
                </a:solidFill>
                <a:latin typeface="Calibri" pitchFamily="34" charset="0"/>
                <a:ea typeface="Calibri" pitchFamily="34" charset="-122"/>
                <a:cs typeface="Calibri" pitchFamily="34" charset="-120"/>
              </a:rPr>
              <a:t>Prefill Speed = prompt_eval_count ÷ TTFT (tok/s)</a:t>
            </a:r>
          </a:p>
          <a:p>
            <a:pPr marL="228600" indent="-228600">
              <a:buFont typeface="+mj-lt"/>
              <a:buAutoNum type="arabicPeriod"/>
            </a:pPr>
            <a:endParaRPr lang="en-US" sz="1200" dirty="0"/>
          </a:p>
          <a:p>
            <a:pPr marL="0" indent="0">
              <a:buNone/>
            </a:pPr>
            <a:r>
              <a:rPr lang="en-US" sz="1200" dirty="0">
                <a:solidFill>
                  <a:srgbClr val="5C4A3A"/>
                </a:solidFill>
                <a:latin typeface="Calibri" pitchFamily="34" charset="0"/>
                <a:ea typeface="Calibri" pitchFamily="34" charset="-122"/>
                <a:cs typeface="Calibri" pitchFamily="34" charset="-120"/>
              </a:rPr>
              <a:t>Highest precision: nanosecond-level internal timing, more accurate than pure external measurement</a:t>
            </a:r>
            <a:endParaRPr lang="en-US" sz="1200" dirty="0"/>
          </a:p>
        </p:txBody>
      </p:sp>
      <p:sp>
        <p:nvSpPr>
          <p:cNvPr id="9" name="Shape 7"/>
          <p:cNvSpPr/>
          <p:nvPr/>
        </p:nvSpPr>
        <p:spPr>
          <a:xfrm>
            <a:off x="320040" y="2930651"/>
            <a:ext cx="8567928" cy="2075689"/>
          </a:xfrm>
          <a:prstGeom prst="roundRect">
            <a:avLst>
              <a:gd name="adj" fmla="val 7407"/>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dirty="0"/>
          </a:p>
        </p:txBody>
      </p:sp>
      <p:sp>
        <p:nvSpPr>
          <p:cNvPr id="10" name="Shape 8"/>
          <p:cNvSpPr/>
          <p:nvPr/>
        </p:nvSpPr>
        <p:spPr>
          <a:xfrm>
            <a:off x="411480" y="3081528"/>
            <a:ext cx="365760" cy="292608"/>
          </a:xfrm>
          <a:prstGeom prst="roundRect">
            <a:avLst>
              <a:gd name="adj" fmla="val 18750"/>
            </a:avLst>
          </a:prstGeom>
          <a:solidFill>
            <a:srgbClr val="D4813A"/>
          </a:solidFill>
          <a:ln w="12700">
            <a:solidFill>
              <a:srgbClr val="D4813A"/>
            </a:solidFill>
            <a:prstDash val="solid"/>
          </a:ln>
        </p:spPr>
        <p:txBody>
          <a:bodyPr/>
          <a:lstStyle/>
          <a:p>
            <a:endParaRPr lang="zh-CN" altLang="en-US"/>
          </a:p>
        </p:txBody>
      </p:sp>
      <p:sp>
        <p:nvSpPr>
          <p:cNvPr id="11" name="Text 9"/>
          <p:cNvSpPr/>
          <p:nvPr/>
        </p:nvSpPr>
        <p:spPr>
          <a:xfrm>
            <a:off x="400226" y="3081528"/>
            <a:ext cx="3657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L2</a:t>
            </a:r>
            <a:endParaRPr lang="en-US" sz="1000" dirty="0"/>
          </a:p>
        </p:txBody>
      </p:sp>
      <p:sp>
        <p:nvSpPr>
          <p:cNvPr id="12" name="Text 10"/>
          <p:cNvSpPr/>
          <p:nvPr/>
        </p:nvSpPr>
        <p:spPr>
          <a:xfrm>
            <a:off x="850392" y="3074846"/>
            <a:ext cx="7909560" cy="2743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Background Monitor Thread  →  Resource Utilisation (50 ms sampling)</a:t>
            </a:r>
            <a:endParaRPr lang="en-US" sz="1200" dirty="0"/>
          </a:p>
        </p:txBody>
      </p:sp>
      <p:sp>
        <p:nvSpPr>
          <p:cNvPr id="13" name="Text 11"/>
          <p:cNvSpPr/>
          <p:nvPr/>
        </p:nvSpPr>
        <p:spPr>
          <a:xfrm>
            <a:off x="822960" y="3235570"/>
            <a:ext cx="8001000" cy="1625874"/>
          </a:xfrm>
          <a:prstGeom prst="rect">
            <a:avLst/>
          </a:prstGeom>
          <a:noFill/>
          <a:ln/>
        </p:spPr>
        <p:txBody>
          <a:bodyPr wrap="square" lIns="0" tIns="0" rIns="0" bIns="0" rtlCol="0" anchor="ctr"/>
          <a:lstStyle/>
          <a:p>
            <a:r>
              <a:rPr lang="en-US" sz="1200" dirty="0">
                <a:solidFill>
                  <a:srgbClr val="5C4A3A"/>
                </a:solidFill>
                <a:latin typeface="Calibri" pitchFamily="34" charset="0"/>
                <a:ea typeface="Calibri" pitchFamily="34" charset="-122"/>
                <a:cs typeface="Calibri" pitchFamily="34" charset="-120"/>
              </a:rPr>
              <a:t>Key design: </a:t>
            </a:r>
          </a:p>
          <a:p>
            <a:pPr marL="228600" indent="-228600" algn="l">
              <a:buFont typeface="+mj-lt"/>
              <a:buAutoNum type="arabicPeriod"/>
            </a:pPr>
            <a:r>
              <a:rPr lang="zh-CN" altLang="zh-CN" sz="1200" dirty="0">
                <a:solidFill>
                  <a:srgbClr val="5C4A3A"/>
                </a:solidFill>
                <a:latin typeface="Calibri" pitchFamily="34" charset="0"/>
                <a:cs typeface="Calibri" pitchFamily="34" charset="-120"/>
              </a:rPr>
              <a:t>Non-blocking Background Thread (50ms): High-frequency sampling captures transient memory peaks for fast-inferring small models, which low sampling rates would overlook.</a:t>
            </a:r>
          </a:p>
          <a:p>
            <a:pPr marL="228600" indent="-228600" algn="l">
              <a:buFont typeface="+mj-lt"/>
              <a:buAutoNum type="arabicPeriod"/>
            </a:pPr>
            <a:r>
              <a:rPr lang="zh-CN" altLang="zh-CN" sz="1200" dirty="0">
                <a:solidFill>
                  <a:srgbClr val="5C4A3A"/>
                </a:solidFill>
                <a:latin typeface="Calibri" pitchFamily="34" charset="0"/>
                <a:cs typeface="Calibri" pitchFamily="34" charset="-120"/>
              </a:rPr>
              <a:t>Dual-Process Monitoring: To prevent severe RAM underestimation, the script monitors both the main Ollama API process (ollama.exe) and the underlying subprocess that actually loads the model weights (ollama_llama_server).</a:t>
            </a:r>
          </a:p>
          <a:p>
            <a:endParaRPr lang="en-US" sz="1200" dirty="0">
              <a:solidFill>
                <a:srgbClr val="5C4A3A"/>
              </a:solidFill>
              <a:latin typeface="Calibri" pitchFamily="34" charset="0"/>
              <a:ea typeface="Calibri" pitchFamily="34" charset="-122"/>
              <a:cs typeface="Calibri" pitchFamily="34" charset="-120"/>
            </a:endParaRPr>
          </a:p>
          <a:p>
            <a:r>
              <a:rPr lang="en-US" altLang="zh-CN" sz="1200" dirty="0" err="1">
                <a:solidFill>
                  <a:srgbClr val="5C4A3A"/>
                </a:solidFill>
                <a:latin typeface="Calibri" pitchFamily="34" charset="0"/>
                <a:ea typeface="Calibri" pitchFamily="34" charset="-122"/>
                <a:cs typeface="Calibri" pitchFamily="34" charset="-120"/>
              </a:rPr>
              <a:t>psutil</a:t>
            </a:r>
            <a:r>
              <a:rPr lang="en-US" altLang="zh-CN" sz="1200" dirty="0">
                <a:solidFill>
                  <a:srgbClr val="5C4A3A"/>
                </a:solidFill>
                <a:latin typeface="Calibri" pitchFamily="34" charset="0"/>
                <a:ea typeface="Calibri" pitchFamily="34" charset="-122"/>
                <a:cs typeface="Calibri" pitchFamily="34" charset="-120"/>
              </a:rPr>
              <a:t> → </a:t>
            </a:r>
            <a:r>
              <a:rPr lang="en-US" altLang="zh-CN" sz="1200" dirty="0" err="1">
                <a:solidFill>
                  <a:srgbClr val="5C4A3A"/>
                </a:solidFill>
                <a:latin typeface="Calibri" pitchFamily="34" charset="0"/>
                <a:ea typeface="Calibri" pitchFamily="34" charset="-122"/>
                <a:cs typeface="Calibri" pitchFamily="34" charset="-120"/>
              </a:rPr>
              <a:t>Ollama</a:t>
            </a:r>
            <a:r>
              <a:rPr lang="en-US" altLang="zh-CN" sz="1200" dirty="0">
                <a:solidFill>
                  <a:srgbClr val="5C4A3A"/>
                </a:solidFill>
                <a:latin typeface="Calibri" pitchFamily="34" charset="0"/>
                <a:ea typeface="Calibri" pitchFamily="34" charset="-122"/>
                <a:cs typeface="Calibri" pitchFamily="34" charset="-120"/>
              </a:rPr>
              <a:t> process RSS peak RAM (GB), CPU peak (%)  </a:t>
            </a:r>
          </a:p>
          <a:p>
            <a:r>
              <a:rPr lang="en-US" altLang="zh-CN" sz="1200" dirty="0" err="1">
                <a:solidFill>
                  <a:srgbClr val="5C4A3A"/>
                </a:solidFill>
                <a:latin typeface="Calibri" pitchFamily="34" charset="0"/>
                <a:ea typeface="Calibri" pitchFamily="34" charset="-122"/>
                <a:cs typeface="Calibri" pitchFamily="34" charset="-120"/>
              </a:rPr>
              <a:t>pynvml</a:t>
            </a:r>
            <a:r>
              <a:rPr lang="en-US" altLang="zh-CN" sz="1200" dirty="0">
                <a:solidFill>
                  <a:srgbClr val="5C4A3A"/>
                </a:solidFill>
                <a:latin typeface="Calibri" pitchFamily="34" charset="0"/>
                <a:ea typeface="Calibri" pitchFamily="34" charset="-122"/>
                <a:cs typeface="Calibri" pitchFamily="34" charset="-120"/>
              </a:rPr>
              <a:t> → GPU VRAM peak, GPU utilization</a:t>
            </a:r>
          </a:p>
          <a:p>
            <a:endParaRPr lang="en-US" sz="1050" dirty="0">
              <a:solidFill>
                <a:srgbClr val="5C4A3A"/>
              </a:solidFill>
              <a:latin typeface="Calibri" pitchFamily="34" charset="0"/>
              <a:ea typeface="Calibri" pitchFamily="34" charset="-122"/>
              <a:cs typeface="Calibri"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0B5F8-3F0D-848C-EBF2-903D7DE958F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6AAF92A-B289-06C8-CD7E-2D2C75D5C81E}"/>
              </a:ext>
            </a:extLst>
          </p:cNvPr>
          <p:cNvSpPr/>
          <p:nvPr/>
        </p:nvSpPr>
        <p:spPr>
          <a:xfrm>
            <a:off x="0" y="137160"/>
            <a:ext cx="9140483" cy="566928"/>
          </a:xfrm>
          <a:prstGeom prst="rect">
            <a:avLst/>
          </a:prstGeom>
          <a:noFill/>
          <a:ln/>
        </p:spPr>
        <p:txBody>
          <a:bodyPr wrap="square" lIns="0" tIns="0" rIns="0" bIns="0" rtlCol="0" anchor="ctr"/>
          <a:lstStyle/>
          <a:p>
            <a:pPr marL="0" indent="0" algn="l">
              <a:buNone/>
            </a:pPr>
            <a:r>
              <a:rPr lang="en-US" sz="3000" b="1" dirty="0">
                <a:solidFill>
                  <a:srgbClr val="B85042"/>
                </a:solidFill>
                <a:latin typeface="Cambria" pitchFamily="34" charset="0"/>
                <a:ea typeface="Cambria" pitchFamily="34" charset="-122"/>
                <a:cs typeface="Cambria" pitchFamily="34" charset="-120"/>
              </a:rPr>
              <a:t>benchmark_eval.py — Four-Layer Metrics Collection</a:t>
            </a:r>
            <a:endParaRPr lang="en-US" sz="3000" dirty="0"/>
          </a:p>
        </p:txBody>
      </p:sp>
      <p:sp>
        <p:nvSpPr>
          <p:cNvPr id="3" name="Shape 1">
            <a:extLst>
              <a:ext uri="{FF2B5EF4-FFF2-40B4-BE49-F238E27FC236}">
                <a16:creationId xmlns:a16="http://schemas.microsoft.com/office/drawing/2014/main" id="{3AC53EE5-46A8-3DF7-7615-F73ECDE6ED93}"/>
              </a:ext>
            </a:extLst>
          </p:cNvPr>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14" name="Shape 12">
            <a:extLst>
              <a:ext uri="{FF2B5EF4-FFF2-40B4-BE49-F238E27FC236}">
                <a16:creationId xmlns:a16="http://schemas.microsoft.com/office/drawing/2014/main" id="{F02EEBC8-917A-BB8C-C40E-EF2AAD55A38B}"/>
              </a:ext>
            </a:extLst>
          </p:cNvPr>
          <p:cNvSpPr/>
          <p:nvPr/>
        </p:nvSpPr>
        <p:spPr>
          <a:xfrm>
            <a:off x="411480" y="985266"/>
            <a:ext cx="8503920" cy="1511046"/>
          </a:xfrm>
          <a:prstGeom prst="roundRect">
            <a:avLst>
              <a:gd name="adj" fmla="val 7407"/>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5" name="Shape 13">
            <a:extLst>
              <a:ext uri="{FF2B5EF4-FFF2-40B4-BE49-F238E27FC236}">
                <a16:creationId xmlns:a16="http://schemas.microsoft.com/office/drawing/2014/main" id="{04A82F92-DA0E-2F37-DFD1-427A2C8B08CC}"/>
              </a:ext>
            </a:extLst>
          </p:cNvPr>
          <p:cNvSpPr/>
          <p:nvPr/>
        </p:nvSpPr>
        <p:spPr>
          <a:xfrm>
            <a:off x="457200" y="1106424"/>
            <a:ext cx="365760" cy="292608"/>
          </a:xfrm>
          <a:prstGeom prst="roundRect">
            <a:avLst>
              <a:gd name="adj" fmla="val 18750"/>
            </a:avLst>
          </a:prstGeom>
          <a:solidFill>
            <a:srgbClr val="7B5030"/>
          </a:solidFill>
          <a:ln w="12700">
            <a:solidFill>
              <a:srgbClr val="7B5030"/>
            </a:solidFill>
            <a:prstDash val="solid"/>
          </a:ln>
        </p:spPr>
        <p:txBody>
          <a:bodyPr/>
          <a:lstStyle/>
          <a:p>
            <a:endParaRPr lang="zh-CN" altLang="en-US"/>
          </a:p>
        </p:txBody>
      </p:sp>
      <p:sp>
        <p:nvSpPr>
          <p:cNvPr id="16" name="Text 14">
            <a:extLst>
              <a:ext uri="{FF2B5EF4-FFF2-40B4-BE49-F238E27FC236}">
                <a16:creationId xmlns:a16="http://schemas.microsoft.com/office/drawing/2014/main" id="{4C8857ED-F522-BD88-1E3C-0C1EB736181E}"/>
              </a:ext>
            </a:extLst>
          </p:cNvPr>
          <p:cNvSpPr/>
          <p:nvPr/>
        </p:nvSpPr>
        <p:spPr>
          <a:xfrm>
            <a:off x="432582" y="1106424"/>
            <a:ext cx="3657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L3</a:t>
            </a:r>
            <a:endParaRPr lang="en-US" sz="1000" dirty="0"/>
          </a:p>
        </p:txBody>
      </p:sp>
      <p:sp>
        <p:nvSpPr>
          <p:cNvPr id="17" name="Text 15">
            <a:extLst>
              <a:ext uri="{FF2B5EF4-FFF2-40B4-BE49-F238E27FC236}">
                <a16:creationId xmlns:a16="http://schemas.microsoft.com/office/drawing/2014/main" id="{6EC07145-62E8-FFD3-77AF-6876D5A17604}"/>
              </a:ext>
            </a:extLst>
          </p:cNvPr>
          <p:cNvSpPr/>
          <p:nvPr/>
        </p:nvSpPr>
        <p:spPr>
          <a:xfrm>
            <a:off x="1018149" y="1122602"/>
            <a:ext cx="7909560" cy="2743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CodeCarbon  →  Energy (Session-Level)</a:t>
            </a:r>
            <a:endParaRPr lang="en-US" sz="1200" dirty="0"/>
          </a:p>
        </p:txBody>
      </p:sp>
      <p:sp>
        <p:nvSpPr>
          <p:cNvPr id="18" name="Text 16">
            <a:extLst>
              <a:ext uri="{FF2B5EF4-FFF2-40B4-BE49-F238E27FC236}">
                <a16:creationId xmlns:a16="http://schemas.microsoft.com/office/drawing/2014/main" id="{A7033F8E-2CC7-AE7E-4C69-5DD717DE219F}"/>
              </a:ext>
            </a:extLst>
          </p:cNvPr>
          <p:cNvSpPr/>
          <p:nvPr/>
        </p:nvSpPr>
        <p:spPr>
          <a:xfrm>
            <a:off x="749808" y="1327991"/>
            <a:ext cx="8165592" cy="1251321"/>
          </a:xfrm>
          <a:prstGeom prst="rect">
            <a:avLst/>
          </a:prstGeom>
          <a:noFill/>
          <a:ln/>
        </p:spPr>
        <p:txBody>
          <a:bodyPr wrap="square" lIns="0" tIns="0" rIns="0" bIns="0" rtlCol="0" anchor="ctr"/>
          <a:lstStyle/>
          <a:p>
            <a:pPr marL="228600" indent="-228600" algn="l">
              <a:buFont typeface="+mj-lt"/>
              <a:buAutoNum type="arabicPeriod"/>
            </a:pPr>
            <a:r>
              <a:rPr lang="en-US" altLang="zh-CN" sz="1200" dirty="0">
                <a:solidFill>
                  <a:srgbClr val="5C4A3A"/>
                </a:solidFill>
                <a:latin typeface="Calibri" pitchFamily="34" charset="0"/>
                <a:cs typeface="Calibri" pitchFamily="34" charset="-120"/>
              </a:rPr>
              <a:t>S</a:t>
            </a:r>
            <a:r>
              <a:rPr lang="zh-CN" altLang="zh-CN" sz="1200" dirty="0">
                <a:solidFill>
                  <a:srgbClr val="5C4A3A"/>
                </a:solidFill>
                <a:latin typeface="Calibri" pitchFamily="34" charset="0"/>
                <a:cs typeface="Calibri" pitchFamily="34" charset="-120"/>
              </a:rPr>
              <a:t>ession-Level Measurement: Energy is tracked across the full 50-prompt session rather than per-request. CodeCarbon's start/stop overhead (~hundreds of ms) would severely corrupt data for fast models (e.g., overhead &gt; 50% for a 0.5B model).</a:t>
            </a:r>
            <a:endParaRPr lang="en-US" altLang="zh-CN" sz="1200" dirty="0">
              <a:solidFill>
                <a:srgbClr val="5C4A3A"/>
              </a:solidFill>
              <a:latin typeface="Calibri" pitchFamily="34" charset="0"/>
              <a:cs typeface="Calibri" pitchFamily="34" charset="-120"/>
            </a:endParaRPr>
          </a:p>
          <a:p>
            <a:pPr marL="228600" indent="-228600" algn="l">
              <a:buFont typeface="+mj-lt"/>
              <a:buAutoNum type="arabicPeriod"/>
            </a:pPr>
            <a:r>
              <a:rPr lang="zh-CN" altLang="zh-CN" sz="1200" dirty="0">
                <a:solidFill>
                  <a:srgbClr val="5C4A3A"/>
                </a:solidFill>
                <a:latin typeface="Calibri" pitchFamily="34" charset="0"/>
                <a:cs typeface="Calibri" pitchFamily="34" charset="-120"/>
              </a:rPr>
              <a:t>Net Energy Calculation: Subtracts a 60-second pre-experiment idle baseline to remove OS background noise. The final metric is calculated as Net Energy ÷ Total Tokens.</a:t>
            </a:r>
            <a:endParaRPr lang="en-US" altLang="zh-CN" sz="1200" dirty="0">
              <a:solidFill>
                <a:srgbClr val="5C4A3A"/>
              </a:solidFill>
              <a:latin typeface="Calibri" pitchFamily="34" charset="0"/>
              <a:cs typeface="Calibri" pitchFamily="34" charset="-120"/>
            </a:endParaRPr>
          </a:p>
          <a:p>
            <a:pPr marL="228600" indent="-228600" algn="l">
              <a:buFont typeface="+mj-lt"/>
              <a:buAutoNum type="arabicPeriod"/>
            </a:pPr>
            <a:r>
              <a:rPr lang="zh-CN" altLang="zh-CN" sz="1200" dirty="0">
                <a:solidFill>
                  <a:srgbClr val="5C4A3A"/>
                </a:solidFill>
                <a:latin typeface="Calibri" pitchFamily="34" charset="0"/>
                <a:cs typeface="Calibri" pitchFamily="34" charset="-120"/>
              </a:rPr>
              <a:t>Known Limitation: Since Windows RAPL is unavailable, the measurement falls back to a TDP-based estimation.</a:t>
            </a:r>
          </a:p>
          <a:p>
            <a:pPr marL="0" indent="0">
              <a:buNone/>
            </a:pPr>
            <a:endParaRPr lang="en-US" sz="1050" dirty="0"/>
          </a:p>
        </p:txBody>
      </p:sp>
      <p:sp>
        <p:nvSpPr>
          <p:cNvPr id="19" name="Shape 17">
            <a:extLst>
              <a:ext uri="{FF2B5EF4-FFF2-40B4-BE49-F238E27FC236}">
                <a16:creationId xmlns:a16="http://schemas.microsoft.com/office/drawing/2014/main" id="{B3F719ED-FF67-963C-B1D5-9374A98DE295}"/>
              </a:ext>
            </a:extLst>
          </p:cNvPr>
          <p:cNvSpPr/>
          <p:nvPr/>
        </p:nvSpPr>
        <p:spPr>
          <a:xfrm>
            <a:off x="384048" y="2784701"/>
            <a:ext cx="8503920" cy="2012382"/>
          </a:xfrm>
          <a:prstGeom prst="roundRect">
            <a:avLst>
              <a:gd name="adj" fmla="val 7407"/>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20" name="Shape 18">
            <a:extLst>
              <a:ext uri="{FF2B5EF4-FFF2-40B4-BE49-F238E27FC236}">
                <a16:creationId xmlns:a16="http://schemas.microsoft.com/office/drawing/2014/main" id="{AB9A00A4-81D3-666A-E019-38B5F51F7B74}"/>
              </a:ext>
            </a:extLst>
          </p:cNvPr>
          <p:cNvSpPr/>
          <p:nvPr/>
        </p:nvSpPr>
        <p:spPr>
          <a:xfrm>
            <a:off x="432582" y="2957908"/>
            <a:ext cx="365760" cy="292608"/>
          </a:xfrm>
          <a:prstGeom prst="roundRect">
            <a:avLst>
              <a:gd name="adj" fmla="val 18750"/>
            </a:avLst>
          </a:prstGeom>
          <a:solidFill>
            <a:srgbClr val="4A3520"/>
          </a:solidFill>
          <a:ln w="12700">
            <a:solidFill>
              <a:srgbClr val="4A3520"/>
            </a:solidFill>
            <a:prstDash val="solid"/>
          </a:ln>
        </p:spPr>
        <p:txBody>
          <a:bodyPr/>
          <a:lstStyle/>
          <a:p>
            <a:endParaRPr lang="zh-CN" altLang="en-US"/>
          </a:p>
        </p:txBody>
      </p:sp>
      <p:sp>
        <p:nvSpPr>
          <p:cNvPr id="21" name="Text 19">
            <a:extLst>
              <a:ext uri="{FF2B5EF4-FFF2-40B4-BE49-F238E27FC236}">
                <a16:creationId xmlns:a16="http://schemas.microsoft.com/office/drawing/2014/main" id="{05A4C6E4-83BD-D16A-B23A-A44D32EACF34}"/>
              </a:ext>
            </a:extLst>
          </p:cNvPr>
          <p:cNvSpPr/>
          <p:nvPr/>
        </p:nvSpPr>
        <p:spPr>
          <a:xfrm>
            <a:off x="425548" y="2976987"/>
            <a:ext cx="3657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L4</a:t>
            </a:r>
            <a:endParaRPr lang="en-US" sz="1000" dirty="0"/>
          </a:p>
        </p:txBody>
      </p:sp>
      <p:sp>
        <p:nvSpPr>
          <p:cNvPr id="22" name="Text 20">
            <a:extLst>
              <a:ext uri="{FF2B5EF4-FFF2-40B4-BE49-F238E27FC236}">
                <a16:creationId xmlns:a16="http://schemas.microsoft.com/office/drawing/2014/main" id="{828AEBDE-500E-93BE-0556-81CA739FD13E}"/>
              </a:ext>
            </a:extLst>
          </p:cNvPr>
          <p:cNvSpPr/>
          <p:nvPr/>
        </p:nvSpPr>
        <p:spPr>
          <a:xfrm>
            <a:off x="985442" y="2957908"/>
            <a:ext cx="7909560" cy="274320"/>
          </a:xfrm>
          <a:prstGeom prst="rect">
            <a:avLst/>
          </a:prstGeom>
          <a:noFill/>
          <a:ln/>
        </p:spPr>
        <p:txBody>
          <a:bodyPr wrap="square" lIns="0" tIns="0" rIns="0" bIns="0"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Derived Computation  →  Workload Stability (Degradation Rate)</a:t>
            </a:r>
            <a:endParaRPr lang="en-US" sz="1200" dirty="0"/>
          </a:p>
        </p:txBody>
      </p:sp>
      <p:sp>
        <p:nvSpPr>
          <p:cNvPr id="23" name="Text 21">
            <a:extLst>
              <a:ext uri="{FF2B5EF4-FFF2-40B4-BE49-F238E27FC236}">
                <a16:creationId xmlns:a16="http://schemas.microsoft.com/office/drawing/2014/main" id="{1B3AB2BA-0E2E-600E-D868-2367DF4694F9}"/>
              </a:ext>
            </a:extLst>
          </p:cNvPr>
          <p:cNvSpPr/>
          <p:nvPr/>
        </p:nvSpPr>
        <p:spPr>
          <a:xfrm>
            <a:off x="888375" y="3226072"/>
            <a:ext cx="7909560" cy="1350853"/>
          </a:xfrm>
          <a:prstGeom prst="rect">
            <a:avLst/>
          </a:prstGeom>
          <a:noFill/>
          <a:ln/>
        </p:spPr>
        <p:txBody>
          <a:bodyPr wrap="square" lIns="0" tIns="0" rIns="0" bIns="0" rtlCol="0" anchor="ctr"/>
          <a:lstStyle/>
          <a:p>
            <a:pPr marL="228600" indent="-228600" algn="l">
              <a:buFont typeface="+mj-lt"/>
              <a:buAutoNum type="arabicPeriod"/>
            </a:pPr>
            <a:r>
              <a:rPr lang="zh-CN" altLang="zh-CN" sz="1200" dirty="0">
                <a:solidFill>
                  <a:srgbClr val="5C4A3A"/>
                </a:solidFill>
                <a:latin typeface="Calibri" pitchFamily="34" charset="0"/>
                <a:cs typeface="Calibri" pitchFamily="34" charset="-120"/>
              </a:rPr>
              <a:t>Metric: Degradation Rate (%), calculated post-collection across the full 50-prompt session.</a:t>
            </a:r>
          </a:p>
          <a:p>
            <a:pPr marL="228600" indent="-228600" algn="l">
              <a:buFont typeface="+mj-lt"/>
              <a:buAutoNum type="arabicPeriod"/>
            </a:pPr>
            <a:r>
              <a:rPr lang="zh-CN" altLang="zh-CN" sz="1200" dirty="0">
                <a:solidFill>
                  <a:srgbClr val="5C4A3A"/>
                </a:solidFill>
                <a:latin typeface="Calibri" pitchFamily="34" charset="0"/>
                <a:cs typeface="Calibri" pitchFamily="34" charset="-120"/>
              </a:rPr>
              <a:t>Formula: (Latency of Request N − Baseline) ÷ Baseline × 100%.</a:t>
            </a:r>
          </a:p>
          <a:p>
            <a:pPr marL="228600" indent="-228600" algn="l">
              <a:buFont typeface="+mj-lt"/>
              <a:buAutoNum type="arabicPeriod"/>
            </a:pPr>
            <a:r>
              <a:rPr lang="zh-CN" altLang="zh-CN" sz="1200" dirty="0">
                <a:solidFill>
                  <a:srgbClr val="5C4A3A"/>
                </a:solidFill>
                <a:latin typeface="Calibri" pitchFamily="34" charset="0"/>
                <a:cs typeface="Calibri" pitchFamily="34" charset="-120"/>
              </a:rPr>
              <a:t>Robust Baseline: Uses the median latency of the first 5 requests (rather than the mean) to effectively filter out random system spikes.</a:t>
            </a:r>
          </a:p>
          <a:p>
            <a:pPr marL="228600" indent="-228600" algn="l">
              <a:buFont typeface="+mj-lt"/>
              <a:buAutoNum type="arabicPeriod"/>
            </a:pPr>
            <a:r>
              <a:rPr lang="zh-CN" altLang="zh-CN" sz="1200" dirty="0">
                <a:solidFill>
                  <a:srgbClr val="5C4A3A"/>
                </a:solidFill>
                <a:latin typeface="Calibri" pitchFamily="34" charset="0"/>
                <a:cs typeface="Calibri" pitchFamily="34" charset="-120"/>
              </a:rPr>
              <a:t>Significance: The key indicator for the High Load scenario, revealing whether the model experiences thermal throttling or slows down under sustained pressure.</a:t>
            </a:r>
          </a:p>
        </p:txBody>
      </p:sp>
    </p:spTree>
    <p:extLst>
      <p:ext uri="{BB962C8B-B14F-4D97-AF65-F5344CB8AC3E}">
        <p14:creationId xmlns:p14="http://schemas.microsoft.com/office/powerpoint/2010/main" val="830365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80611-7929-5F5D-B557-2BE25A7DA9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79B8830-5830-1D2E-3643-120ECF48E713}"/>
              </a:ext>
            </a:extLst>
          </p:cNvPr>
          <p:cNvSpPr/>
          <p:nvPr/>
        </p:nvSpPr>
        <p:spPr>
          <a:xfrm>
            <a:off x="411480" y="164592"/>
            <a:ext cx="8321040" cy="566928"/>
          </a:xfrm>
          <a:prstGeom prst="rect">
            <a:avLst/>
          </a:prstGeom>
          <a:noFill/>
          <a:ln/>
        </p:spPr>
        <p:txBody>
          <a:bodyPr wrap="square" lIns="0" tIns="0" rIns="0" bIns="0" rtlCol="0" anchor="ctr"/>
          <a:lstStyle/>
          <a:p>
            <a:pPr marL="0" indent="0" algn="l">
              <a:buNone/>
            </a:pPr>
            <a:r>
              <a:rPr lang="en-US" sz="3000" b="1" dirty="0">
                <a:solidFill>
                  <a:srgbClr val="B85042"/>
                </a:solidFill>
                <a:latin typeface="Cambria" pitchFamily="34" charset="0"/>
                <a:ea typeface="Cambria" pitchFamily="34" charset="-122"/>
                <a:cs typeface="Cambria" pitchFamily="34" charset="-120"/>
              </a:rPr>
              <a:t>Experimental Scenarios &amp; Rigour Controls</a:t>
            </a:r>
            <a:endParaRPr lang="en-US" sz="3000" dirty="0"/>
          </a:p>
        </p:txBody>
      </p:sp>
      <p:sp>
        <p:nvSpPr>
          <p:cNvPr id="3" name="Shape 1">
            <a:extLst>
              <a:ext uri="{FF2B5EF4-FFF2-40B4-BE49-F238E27FC236}">
                <a16:creationId xmlns:a16="http://schemas.microsoft.com/office/drawing/2014/main" id="{27A077F4-8EA9-DC25-3158-9FB0AD623273}"/>
              </a:ext>
            </a:extLst>
          </p:cNvPr>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Text 2">
            <a:extLst>
              <a:ext uri="{FF2B5EF4-FFF2-40B4-BE49-F238E27FC236}">
                <a16:creationId xmlns:a16="http://schemas.microsoft.com/office/drawing/2014/main" id="{F4523225-B3AA-170C-1E23-AEEB81D189CA}"/>
              </a:ext>
            </a:extLst>
          </p:cNvPr>
          <p:cNvSpPr/>
          <p:nvPr/>
        </p:nvSpPr>
        <p:spPr>
          <a:xfrm>
            <a:off x="411480" y="868680"/>
            <a:ext cx="8321040" cy="274320"/>
          </a:xfrm>
          <a:prstGeom prst="rect">
            <a:avLst/>
          </a:prstGeom>
          <a:noFill/>
          <a:ln/>
        </p:spPr>
        <p:txBody>
          <a:bodyPr wrap="square" rtlCol="0" anchor="ctr"/>
          <a:lstStyle/>
          <a:p>
            <a:pPr marL="0" indent="0">
              <a:buNone/>
            </a:pPr>
            <a:r>
              <a:rPr lang="en-US" sz="1300" b="1" dirty="0">
                <a:solidFill>
                  <a:srgbClr val="B85042"/>
                </a:solidFill>
                <a:latin typeface="Calibri" pitchFamily="34" charset="0"/>
                <a:ea typeface="Calibri" pitchFamily="34" charset="-122"/>
                <a:cs typeface="Calibri" pitchFamily="34" charset="-120"/>
              </a:rPr>
              <a:t>Three Workload Scenarios</a:t>
            </a:r>
            <a:endParaRPr lang="en-US" sz="1300" dirty="0"/>
          </a:p>
        </p:txBody>
      </p:sp>
      <p:graphicFrame>
        <p:nvGraphicFramePr>
          <p:cNvPr id="8" name="Table 0">
            <a:extLst>
              <a:ext uri="{FF2B5EF4-FFF2-40B4-BE49-F238E27FC236}">
                <a16:creationId xmlns:a16="http://schemas.microsoft.com/office/drawing/2014/main" id="{AC085D29-AD8B-4E47-61B1-FAEA29BA36B9}"/>
              </a:ext>
            </a:extLst>
          </p:cNvPr>
          <p:cNvGraphicFramePr>
            <a:graphicFrameLocks noGrp="1"/>
          </p:cNvGraphicFramePr>
          <p:nvPr>
            <p:extLst>
              <p:ext uri="{D42A27DB-BD31-4B8C-83A1-F6EECF244321}">
                <p14:modId xmlns:p14="http://schemas.microsoft.com/office/powerpoint/2010/main" val="2449352139"/>
              </p:ext>
            </p:extLst>
          </p:nvPr>
        </p:nvGraphicFramePr>
        <p:xfrm>
          <a:off x="466344" y="2855976"/>
          <a:ext cx="8321040" cy="1235964"/>
        </p:xfrm>
        <a:graphic>
          <a:graphicData uri="http://schemas.openxmlformats.org/drawingml/2006/table">
            <a:tbl>
              <a:tblPr/>
              <a:tblGrid>
                <a:gridCol w="12801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269748">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Simulated Deployment</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Key Threshold</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B85042"/>
                    </a:solidFill>
                  </a:tcPr>
                </a:tc>
                <a:extLst>
                  <a:ext uri="{0D108BD9-81ED-4DB2-BD59-A6C34878D82A}">
                    <a16:rowId xmlns:a16="http://schemas.microsoft.com/office/drawing/2014/main" val="10000"/>
                  </a:ext>
                </a:extLst>
              </a:tr>
              <a:tr h="269748">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Serial</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0.1 s gap between requests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Single-user daily interaction  (baseline)</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Latency &lt; 500 ms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extLst>
                  <a:ext uri="{0D108BD9-81ED-4DB2-BD59-A6C34878D82A}">
                    <a16:rowId xmlns:a16="http://schemas.microsoft.com/office/drawing/2014/main" val="10001"/>
                  </a:ext>
                </a:extLst>
              </a:tr>
              <a:tr h="269748">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High Load</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No gap — continuous requests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Sustained high-frequency pressure  (thermal throttling test)</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tc>
                  <a:txBody>
                    <a:bodyPr/>
                    <a:lstStyle/>
                    <a:p>
                      <a:pPr marL="0" indent="0">
                        <a:buNone/>
                      </a:pPr>
                      <a:r>
                        <a:rPr lang="en-US" sz="1100" b="1" dirty="0">
                          <a:solidFill>
                            <a:srgbClr val="E65100"/>
                          </a:solidFill>
                          <a:latin typeface="Calibri" pitchFamily="34" charset="0"/>
                          <a:ea typeface="Calibri" pitchFamily="34" charset="-122"/>
                          <a:cs typeface="Calibri" pitchFamily="34" charset="-120"/>
                        </a:rPr>
                        <a:t>Degradation &lt; 20%</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EDE4D6"/>
                    </a:solidFill>
                  </a:tcPr>
                </a:tc>
                <a:extLst>
                  <a:ext uri="{0D108BD9-81ED-4DB2-BD59-A6C34878D82A}">
                    <a16:rowId xmlns:a16="http://schemas.microsoft.com/office/drawing/2014/main" val="10002"/>
                  </a:ext>
                </a:extLst>
              </a:tr>
              <a:tr h="269748">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Concurrent</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 parallel threads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Multi-user shared device  (resource contention test)</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tc>
                  <a:txBody>
                    <a:bodyPr/>
                    <a:lstStyle/>
                    <a:p>
                      <a:pPr marL="0" indent="0">
                        <a:buNone/>
                      </a:pPr>
                      <a:r>
                        <a:rPr lang="en-US" sz="1100" b="1" dirty="0">
                          <a:solidFill>
                            <a:srgbClr val="2E7D32"/>
                          </a:solidFill>
                          <a:latin typeface="Calibri" pitchFamily="34" charset="0"/>
                          <a:ea typeface="Calibri" pitchFamily="34" charset="-122"/>
                          <a:cs typeface="Calibri" pitchFamily="34" charset="-120"/>
                        </a:rPr>
                        <a:t>Latency still &lt; 500 ms</a:t>
                      </a:r>
                      <a:endParaRPr lang="en-US" sz="1100" dirty="0">
                        <a:latin typeface="Calibri" charset="0"/>
                        <a:ea typeface="Calibri" charset="0"/>
                        <a:cs typeface="Calibri" charset="0"/>
                      </a:endParaRPr>
                    </a:p>
                  </a:txBody>
                  <a:tcPr>
                    <a:lnL w="6350" cap="flat" cmpd="sng" algn="ctr">
                      <a:solidFill>
                        <a:srgbClr val="C8B8A2"/>
                      </a:solidFill>
                      <a:prstDash val="solid"/>
                      <a:round/>
                      <a:headEnd type="none" w="med" len="med"/>
                      <a:tailEnd type="none" w="med" len="med"/>
                    </a:lnL>
                    <a:lnR w="6350" cap="flat" cmpd="sng" algn="ctr">
                      <a:solidFill>
                        <a:srgbClr val="C8B8A2"/>
                      </a:solidFill>
                      <a:prstDash val="solid"/>
                      <a:round/>
                      <a:headEnd type="none" w="med" len="med"/>
                      <a:tailEnd type="none" w="med" len="med"/>
                    </a:lnR>
                    <a:lnT w="6350" cap="flat" cmpd="sng" algn="ctr">
                      <a:solidFill>
                        <a:srgbClr val="C8B8A2"/>
                      </a:solidFill>
                      <a:prstDash val="solid"/>
                      <a:round/>
                      <a:headEnd type="none" w="med" len="med"/>
                      <a:tailEnd type="none" w="med" len="med"/>
                    </a:lnT>
                    <a:lnB w="6350" cap="flat" cmpd="sng" algn="ctr">
                      <a:solidFill>
                        <a:srgbClr val="C8B8A2"/>
                      </a:solidFill>
                      <a:prstDash val="solid"/>
                      <a:round/>
                      <a:headEnd type="none" w="med" len="med"/>
                      <a:tailEnd type="none" w="med" len="med"/>
                    </a:lnB>
                    <a:solidFill>
                      <a:srgbClr val="F7F3EE"/>
                    </a:solidFill>
                  </a:tcPr>
                </a:tc>
                <a:extLst>
                  <a:ext uri="{0D108BD9-81ED-4DB2-BD59-A6C34878D82A}">
                    <a16:rowId xmlns:a16="http://schemas.microsoft.com/office/drawing/2014/main" val="10003"/>
                  </a:ext>
                </a:extLst>
              </a:tr>
            </a:tbl>
          </a:graphicData>
        </a:graphic>
      </p:graphicFrame>
      <p:sp>
        <p:nvSpPr>
          <p:cNvPr id="29" name="Text 26">
            <a:extLst>
              <a:ext uri="{FF2B5EF4-FFF2-40B4-BE49-F238E27FC236}">
                <a16:creationId xmlns:a16="http://schemas.microsoft.com/office/drawing/2014/main" id="{78E157CA-20D4-19F9-E729-AF71A1001864}"/>
              </a:ext>
            </a:extLst>
          </p:cNvPr>
          <p:cNvSpPr/>
          <p:nvPr/>
        </p:nvSpPr>
        <p:spPr>
          <a:xfrm>
            <a:off x="466344" y="4178808"/>
            <a:ext cx="164592" cy="292608"/>
          </a:xfrm>
          <a:prstGeom prst="rect">
            <a:avLst/>
          </a:prstGeom>
          <a:noFill/>
          <a:ln/>
        </p:spPr>
        <p:txBody>
          <a:bodyPr wrap="square" lIns="0" tIns="0" rIns="0" bIns="0" rtlCol="0" anchor="ctr"/>
          <a:lstStyle/>
          <a:p>
            <a:pPr marL="0" indent="0" algn="ctr">
              <a:buNone/>
            </a:pPr>
            <a:endParaRPr lang="en-US" sz="1000" dirty="0"/>
          </a:p>
        </p:txBody>
      </p:sp>
      <p:sp>
        <p:nvSpPr>
          <p:cNvPr id="34" name="Text 31">
            <a:extLst>
              <a:ext uri="{FF2B5EF4-FFF2-40B4-BE49-F238E27FC236}">
                <a16:creationId xmlns:a16="http://schemas.microsoft.com/office/drawing/2014/main" id="{16A1A7E4-72E1-53F2-E798-B64C28C03F9D}"/>
              </a:ext>
            </a:extLst>
          </p:cNvPr>
          <p:cNvSpPr/>
          <p:nvPr/>
        </p:nvSpPr>
        <p:spPr>
          <a:xfrm>
            <a:off x="4887116" y="4696499"/>
            <a:ext cx="16459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8" name="Shape 17">
            <a:extLst>
              <a:ext uri="{FF2B5EF4-FFF2-40B4-BE49-F238E27FC236}">
                <a16:creationId xmlns:a16="http://schemas.microsoft.com/office/drawing/2014/main" id="{E0AB3131-63F4-1C22-D6B5-0E6CFEBD72B8}"/>
              </a:ext>
            </a:extLst>
          </p:cNvPr>
          <p:cNvSpPr/>
          <p:nvPr/>
        </p:nvSpPr>
        <p:spPr>
          <a:xfrm>
            <a:off x="457200" y="1229868"/>
            <a:ext cx="8503920" cy="1255776"/>
          </a:xfrm>
          <a:prstGeom prst="roundRect">
            <a:avLst>
              <a:gd name="adj" fmla="val 7407"/>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42" name="TextBox 41">
            <a:extLst>
              <a:ext uri="{FF2B5EF4-FFF2-40B4-BE49-F238E27FC236}">
                <a16:creationId xmlns:a16="http://schemas.microsoft.com/office/drawing/2014/main" id="{B5EFA16C-8168-9F48-9DF4-1612BE72ADA0}"/>
              </a:ext>
            </a:extLst>
          </p:cNvPr>
          <p:cNvSpPr txBox="1"/>
          <p:nvPr/>
        </p:nvSpPr>
        <p:spPr>
          <a:xfrm>
            <a:off x="548640" y="1306490"/>
            <a:ext cx="8321040" cy="1015663"/>
          </a:xfrm>
          <a:prstGeom prst="rect">
            <a:avLst/>
          </a:prstGeom>
          <a:noFill/>
        </p:spPr>
        <p:txBody>
          <a:bodyPr wrap="square">
            <a:spAutoFit/>
          </a:bodyPr>
          <a:lstStyle/>
          <a:p>
            <a:pPr algn="l"/>
            <a:r>
              <a:rPr lang="zh-CN" altLang="zh-CN" sz="1200" b="0" i="0" dirty="0">
                <a:effectLst/>
                <a:latin typeface="ui-sans-serif"/>
              </a:rPr>
              <a:t>To comprehensively evaluate model performance under diverse real-world edge conditions, this experiment incorporates three distinct workload scenarios: Serial, High Load, and Concurrent. </a:t>
            </a:r>
            <a:endParaRPr lang="en-US" altLang="zh-CN" sz="1200" b="0" i="0" dirty="0">
              <a:effectLst/>
              <a:latin typeface="ui-sans-serif"/>
            </a:endParaRPr>
          </a:p>
          <a:p>
            <a:pPr algn="l"/>
            <a:endParaRPr lang="en-US" altLang="zh-CN" sz="1200" dirty="0">
              <a:latin typeface="ui-sans-serif"/>
            </a:endParaRPr>
          </a:p>
          <a:p>
            <a:pPr algn="l"/>
            <a:r>
              <a:rPr lang="zh-CN" altLang="zh-CN" sz="1200" b="0" i="0" dirty="0">
                <a:effectLst/>
                <a:latin typeface="ui-sans-serif"/>
              </a:rPr>
              <a:t>These scenarios are designed to sequentially test the system's baseline interactive latency, its endurance against thermal throttling, and its resilience to multi-user resource contention.</a:t>
            </a:r>
          </a:p>
        </p:txBody>
      </p:sp>
    </p:spTree>
    <p:extLst>
      <p:ext uri="{BB962C8B-B14F-4D97-AF65-F5344CB8AC3E}">
        <p14:creationId xmlns:p14="http://schemas.microsoft.com/office/powerpoint/2010/main" val="1861145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lgn="l">
              <a:buNone/>
            </a:pPr>
            <a:r>
              <a:rPr lang="en-US" sz="3000" b="1" dirty="0">
                <a:solidFill>
                  <a:srgbClr val="B85042"/>
                </a:solidFill>
                <a:latin typeface="Cambria" pitchFamily="34" charset="0"/>
                <a:ea typeface="Cambria" pitchFamily="34" charset="-122"/>
                <a:cs typeface="Cambria" pitchFamily="34" charset="-120"/>
              </a:rPr>
              <a:t>Experimental Scenarios &amp; Rigour Controls</a:t>
            </a:r>
            <a:endParaRPr lang="en-US" sz="3000" dirty="0"/>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6" name="Text 3"/>
          <p:cNvSpPr/>
          <p:nvPr/>
        </p:nvSpPr>
        <p:spPr>
          <a:xfrm>
            <a:off x="411480" y="865515"/>
            <a:ext cx="8321040" cy="274320"/>
          </a:xfrm>
          <a:prstGeom prst="rect">
            <a:avLst/>
          </a:prstGeom>
          <a:noFill/>
          <a:ln/>
        </p:spPr>
        <p:txBody>
          <a:bodyPr wrap="square" rtlCol="0" anchor="ctr"/>
          <a:lstStyle/>
          <a:p>
            <a:pPr marL="0" indent="0">
              <a:buNone/>
            </a:pPr>
            <a:r>
              <a:rPr lang="zh-CN" altLang="zh-CN" sz="1300" b="1" dirty="0">
                <a:solidFill>
                  <a:srgbClr val="B85042"/>
                </a:solidFill>
                <a:latin typeface="Calibri" pitchFamily="34" charset="0"/>
                <a:cs typeface="Calibri" pitchFamily="34" charset="-120"/>
              </a:rPr>
              <a:t>Experimental Soundness</a:t>
            </a:r>
            <a:r>
              <a:rPr lang="en-US" sz="1300" b="1" dirty="0">
                <a:solidFill>
                  <a:srgbClr val="B85042"/>
                </a:solidFill>
                <a:latin typeface="Calibri" pitchFamily="34" charset="0"/>
                <a:ea typeface="Calibri" pitchFamily="34" charset="-122"/>
                <a:cs typeface="Calibri" pitchFamily="34" charset="-120"/>
              </a:rPr>
              <a:t>— Six Controls</a:t>
            </a:r>
            <a:endParaRPr lang="en-US" sz="1300" dirty="0"/>
          </a:p>
        </p:txBody>
      </p:sp>
      <p:sp>
        <p:nvSpPr>
          <p:cNvPr id="7" name="Shape 4"/>
          <p:cNvSpPr/>
          <p:nvPr/>
        </p:nvSpPr>
        <p:spPr>
          <a:xfrm>
            <a:off x="411480" y="2670048"/>
            <a:ext cx="4069080" cy="603504"/>
          </a:xfrm>
          <a:prstGeom prst="roundRect">
            <a:avLst>
              <a:gd name="adj" fmla="val 12121"/>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5" name="Shape 5"/>
          <p:cNvSpPr/>
          <p:nvPr/>
        </p:nvSpPr>
        <p:spPr>
          <a:xfrm>
            <a:off x="466344" y="2825496"/>
            <a:ext cx="164592" cy="292608"/>
          </a:xfrm>
          <a:prstGeom prst="roundRect">
            <a:avLst>
              <a:gd name="adj" fmla="val 33333"/>
            </a:avLst>
          </a:prstGeom>
          <a:solidFill>
            <a:srgbClr val="2E7D32"/>
          </a:solidFill>
          <a:ln w="12700">
            <a:solidFill>
              <a:srgbClr val="2E7D32"/>
            </a:solidFill>
            <a:prstDash val="solid"/>
          </a:ln>
        </p:spPr>
        <p:txBody>
          <a:bodyPr/>
          <a:lstStyle/>
          <a:p>
            <a:endParaRPr lang="zh-CN" altLang="en-US"/>
          </a:p>
        </p:txBody>
      </p:sp>
      <p:sp>
        <p:nvSpPr>
          <p:cNvPr id="9" name="Text 6"/>
          <p:cNvSpPr/>
          <p:nvPr/>
        </p:nvSpPr>
        <p:spPr>
          <a:xfrm>
            <a:off x="466344" y="2825496"/>
            <a:ext cx="16459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0" name="Text 7"/>
          <p:cNvSpPr/>
          <p:nvPr/>
        </p:nvSpPr>
        <p:spPr>
          <a:xfrm>
            <a:off x="685800" y="2715768"/>
            <a:ext cx="3749040" cy="219456"/>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Determinism</a:t>
            </a:r>
            <a:endParaRPr lang="en-US" sz="1100" dirty="0"/>
          </a:p>
        </p:txBody>
      </p:sp>
      <p:sp>
        <p:nvSpPr>
          <p:cNvPr id="11" name="Text 8"/>
          <p:cNvSpPr/>
          <p:nvPr/>
        </p:nvSpPr>
        <p:spPr>
          <a:xfrm>
            <a:off x="685800" y="2944368"/>
            <a:ext cx="3749040" cy="292608"/>
          </a:xfrm>
          <a:prstGeom prst="rect">
            <a:avLst/>
          </a:prstGeom>
          <a:noFill/>
          <a:ln/>
        </p:spPr>
        <p:txBody>
          <a:bodyPr wrap="square" lIns="0" tIns="0" rIns="0" bIns="0" rtlCol="0" anchor="ctr"/>
          <a:lstStyle/>
          <a:p>
            <a:pPr marL="0" indent="0">
              <a:buNone/>
            </a:pPr>
            <a:r>
              <a:rPr lang="en-US" sz="950" dirty="0">
                <a:solidFill>
                  <a:srgbClr val="5C4A3A"/>
                </a:solidFill>
                <a:latin typeface="Calibri" pitchFamily="34" charset="0"/>
                <a:ea typeface="Calibri" pitchFamily="34" charset="-122"/>
                <a:cs typeface="Calibri" pitchFamily="34" charset="-120"/>
              </a:rPr>
              <a:t>temperature = 0  ·  seed = 42  →  fully reproducible output</a:t>
            </a:r>
            <a:endParaRPr lang="en-US" sz="950" dirty="0"/>
          </a:p>
        </p:txBody>
      </p:sp>
      <p:sp>
        <p:nvSpPr>
          <p:cNvPr id="12" name="Shape 9"/>
          <p:cNvSpPr/>
          <p:nvPr/>
        </p:nvSpPr>
        <p:spPr>
          <a:xfrm>
            <a:off x="4572000" y="2670048"/>
            <a:ext cx="4069080" cy="603504"/>
          </a:xfrm>
          <a:prstGeom prst="roundRect">
            <a:avLst>
              <a:gd name="adj" fmla="val 12121"/>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3" name="Shape 10"/>
          <p:cNvSpPr/>
          <p:nvPr/>
        </p:nvSpPr>
        <p:spPr>
          <a:xfrm>
            <a:off x="4626864" y="2825496"/>
            <a:ext cx="164592" cy="292608"/>
          </a:xfrm>
          <a:prstGeom prst="roundRect">
            <a:avLst>
              <a:gd name="adj" fmla="val 33333"/>
            </a:avLst>
          </a:prstGeom>
          <a:solidFill>
            <a:srgbClr val="2E7D32"/>
          </a:solidFill>
          <a:ln w="12700">
            <a:solidFill>
              <a:srgbClr val="2E7D32"/>
            </a:solidFill>
            <a:prstDash val="solid"/>
          </a:ln>
        </p:spPr>
        <p:txBody>
          <a:bodyPr/>
          <a:lstStyle/>
          <a:p>
            <a:endParaRPr lang="zh-CN" altLang="en-US"/>
          </a:p>
        </p:txBody>
      </p:sp>
      <p:sp>
        <p:nvSpPr>
          <p:cNvPr id="14" name="Text 11"/>
          <p:cNvSpPr/>
          <p:nvPr/>
        </p:nvSpPr>
        <p:spPr>
          <a:xfrm>
            <a:off x="4626864" y="2825496"/>
            <a:ext cx="16459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15" name="Text 12"/>
          <p:cNvSpPr/>
          <p:nvPr/>
        </p:nvSpPr>
        <p:spPr>
          <a:xfrm>
            <a:off x="4846320" y="2715768"/>
            <a:ext cx="3749040" cy="219456"/>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Warmup Protocol</a:t>
            </a:r>
            <a:endParaRPr lang="en-US" sz="1100" dirty="0"/>
          </a:p>
        </p:txBody>
      </p:sp>
      <p:sp>
        <p:nvSpPr>
          <p:cNvPr id="16" name="Text 13"/>
          <p:cNvSpPr/>
          <p:nvPr/>
        </p:nvSpPr>
        <p:spPr>
          <a:xfrm>
            <a:off x="4846320" y="2944368"/>
            <a:ext cx="3749040" cy="292608"/>
          </a:xfrm>
          <a:prstGeom prst="rect">
            <a:avLst/>
          </a:prstGeom>
          <a:noFill/>
          <a:ln/>
        </p:spPr>
        <p:txBody>
          <a:bodyPr wrap="square" lIns="0" tIns="0" rIns="0" bIns="0" rtlCol="0" anchor="ctr"/>
          <a:lstStyle/>
          <a:p>
            <a:pPr marL="0" indent="0">
              <a:buNone/>
            </a:pPr>
            <a:r>
              <a:rPr lang="en-US" sz="950" dirty="0">
                <a:solidFill>
                  <a:srgbClr val="5C4A3A"/>
                </a:solidFill>
                <a:latin typeface="Calibri" pitchFamily="34" charset="0"/>
                <a:ea typeface="Calibri" pitchFamily="34" charset="-122"/>
                <a:cs typeface="Calibri" pitchFamily="34" charset="-120"/>
              </a:rPr>
              <a:t>3 warmup requests per session  ·  request #1 records cold-start latency  ·  remainder discarded to remove JIT effects</a:t>
            </a:r>
            <a:endParaRPr lang="en-US" sz="950" dirty="0"/>
          </a:p>
        </p:txBody>
      </p:sp>
      <p:sp>
        <p:nvSpPr>
          <p:cNvPr id="17" name="Shape 14"/>
          <p:cNvSpPr/>
          <p:nvPr/>
        </p:nvSpPr>
        <p:spPr>
          <a:xfrm>
            <a:off x="411480" y="3346704"/>
            <a:ext cx="4069080" cy="603504"/>
          </a:xfrm>
          <a:prstGeom prst="roundRect">
            <a:avLst>
              <a:gd name="adj" fmla="val 12121"/>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8" name="Shape 15"/>
          <p:cNvSpPr/>
          <p:nvPr/>
        </p:nvSpPr>
        <p:spPr>
          <a:xfrm>
            <a:off x="466344" y="3502152"/>
            <a:ext cx="164592" cy="292608"/>
          </a:xfrm>
          <a:prstGeom prst="roundRect">
            <a:avLst>
              <a:gd name="adj" fmla="val 33333"/>
            </a:avLst>
          </a:prstGeom>
          <a:solidFill>
            <a:srgbClr val="2E7D32"/>
          </a:solidFill>
          <a:ln w="12700">
            <a:solidFill>
              <a:srgbClr val="2E7D32"/>
            </a:solidFill>
            <a:prstDash val="solid"/>
          </a:ln>
        </p:spPr>
        <p:txBody>
          <a:bodyPr/>
          <a:lstStyle/>
          <a:p>
            <a:endParaRPr lang="zh-CN" altLang="en-US"/>
          </a:p>
        </p:txBody>
      </p:sp>
      <p:sp>
        <p:nvSpPr>
          <p:cNvPr id="19" name="Text 16"/>
          <p:cNvSpPr/>
          <p:nvPr/>
        </p:nvSpPr>
        <p:spPr>
          <a:xfrm>
            <a:off x="466344" y="3502152"/>
            <a:ext cx="16459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0" name="Text 17"/>
          <p:cNvSpPr/>
          <p:nvPr/>
        </p:nvSpPr>
        <p:spPr>
          <a:xfrm>
            <a:off x="685800" y="3392424"/>
            <a:ext cx="3749040" cy="219456"/>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Idle Baseline</a:t>
            </a:r>
            <a:endParaRPr lang="en-US" sz="1100" dirty="0"/>
          </a:p>
        </p:txBody>
      </p:sp>
      <p:sp>
        <p:nvSpPr>
          <p:cNvPr id="21" name="Text 18"/>
          <p:cNvSpPr/>
          <p:nvPr/>
        </p:nvSpPr>
        <p:spPr>
          <a:xfrm>
            <a:off x="685800" y="3621024"/>
            <a:ext cx="3749040" cy="292608"/>
          </a:xfrm>
          <a:prstGeom prst="rect">
            <a:avLst/>
          </a:prstGeom>
          <a:noFill/>
          <a:ln/>
        </p:spPr>
        <p:txBody>
          <a:bodyPr wrap="square" lIns="0" tIns="0" rIns="0" bIns="0" rtlCol="0" anchor="ctr"/>
          <a:lstStyle/>
          <a:p>
            <a:pPr marL="0" indent="0">
              <a:buNone/>
            </a:pPr>
            <a:r>
              <a:rPr lang="en-US" sz="950" dirty="0">
                <a:solidFill>
                  <a:srgbClr val="5C4A3A"/>
                </a:solidFill>
                <a:latin typeface="Calibri" pitchFamily="34" charset="0"/>
                <a:ea typeface="Calibri" pitchFamily="34" charset="-122"/>
                <a:cs typeface="Calibri" pitchFamily="34" charset="-120"/>
              </a:rPr>
              <a:t>60 s system idle measurement before experiments  ·  Net energy = total − baseline energy (OS background removed)</a:t>
            </a:r>
            <a:endParaRPr lang="en-US" sz="950" dirty="0"/>
          </a:p>
        </p:txBody>
      </p:sp>
      <p:sp>
        <p:nvSpPr>
          <p:cNvPr id="22" name="Shape 19"/>
          <p:cNvSpPr/>
          <p:nvPr/>
        </p:nvSpPr>
        <p:spPr>
          <a:xfrm>
            <a:off x="4572000" y="3346704"/>
            <a:ext cx="4069080" cy="603504"/>
          </a:xfrm>
          <a:prstGeom prst="roundRect">
            <a:avLst>
              <a:gd name="adj" fmla="val 12121"/>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23" name="Shape 20"/>
          <p:cNvSpPr/>
          <p:nvPr/>
        </p:nvSpPr>
        <p:spPr>
          <a:xfrm>
            <a:off x="4626864" y="3502152"/>
            <a:ext cx="164592" cy="292608"/>
          </a:xfrm>
          <a:prstGeom prst="roundRect">
            <a:avLst>
              <a:gd name="adj" fmla="val 33333"/>
            </a:avLst>
          </a:prstGeom>
          <a:solidFill>
            <a:srgbClr val="2E7D32"/>
          </a:solidFill>
          <a:ln w="12700">
            <a:solidFill>
              <a:srgbClr val="2E7D32"/>
            </a:solidFill>
            <a:prstDash val="solid"/>
          </a:ln>
        </p:spPr>
        <p:txBody>
          <a:bodyPr/>
          <a:lstStyle/>
          <a:p>
            <a:endParaRPr lang="zh-CN" altLang="en-US"/>
          </a:p>
        </p:txBody>
      </p:sp>
      <p:sp>
        <p:nvSpPr>
          <p:cNvPr id="24" name="Text 21"/>
          <p:cNvSpPr/>
          <p:nvPr/>
        </p:nvSpPr>
        <p:spPr>
          <a:xfrm>
            <a:off x="4626864" y="3502152"/>
            <a:ext cx="16459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5" name="Text 22"/>
          <p:cNvSpPr/>
          <p:nvPr/>
        </p:nvSpPr>
        <p:spPr>
          <a:xfrm>
            <a:off x="4846320" y="3392424"/>
            <a:ext cx="3749040" cy="219456"/>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Outlier Detection</a:t>
            </a:r>
            <a:endParaRPr lang="en-US" sz="1100" dirty="0"/>
          </a:p>
        </p:txBody>
      </p:sp>
      <p:sp>
        <p:nvSpPr>
          <p:cNvPr id="26" name="Text 23"/>
          <p:cNvSpPr/>
          <p:nvPr/>
        </p:nvSpPr>
        <p:spPr>
          <a:xfrm>
            <a:off x="4846320" y="3621024"/>
            <a:ext cx="3749040" cy="292608"/>
          </a:xfrm>
          <a:prstGeom prst="rect">
            <a:avLst/>
          </a:prstGeom>
          <a:noFill/>
          <a:ln/>
        </p:spPr>
        <p:txBody>
          <a:bodyPr wrap="square" lIns="0" tIns="0" rIns="0" bIns="0" rtlCol="0" anchor="ctr"/>
          <a:lstStyle/>
          <a:p>
            <a:pPr marL="0" indent="0">
              <a:buNone/>
            </a:pPr>
            <a:r>
              <a:rPr lang="en-US" sz="950" dirty="0">
                <a:solidFill>
                  <a:srgbClr val="5C4A3A"/>
                </a:solidFill>
                <a:latin typeface="Calibri" pitchFamily="34" charset="0"/>
                <a:ea typeface="Calibri" pitchFamily="34" charset="-122"/>
                <a:cs typeface="Calibri" pitchFamily="34" charset="-120"/>
              </a:rPr>
              <a:t>Z-score &gt; 3.0 flagged as outlier  ·  retained in CSV but excluded from statistical analysis</a:t>
            </a:r>
            <a:endParaRPr lang="en-US" sz="950" dirty="0"/>
          </a:p>
        </p:txBody>
      </p:sp>
      <p:sp>
        <p:nvSpPr>
          <p:cNvPr id="27" name="Shape 24"/>
          <p:cNvSpPr/>
          <p:nvPr/>
        </p:nvSpPr>
        <p:spPr>
          <a:xfrm>
            <a:off x="411480" y="4023360"/>
            <a:ext cx="4069080" cy="603504"/>
          </a:xfrm>
          <a:prstGeom prst="roundRect">
            <a:avLst>
              <a:gd name="adj" fmla="val 12121"/>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28" name="Shape 25"/>
          <p:cNvSpPr/>
          <p:nvPr/>
        </p:nvSpPr>
        <p:spPr>
          <a:xfrm>
            <a:off x="466344" y="4178808"/>
            <a:ext cx="164592" cy="292608"/>
          </a:xfrm>
          <a:prstGeom prst="roundRect">
            <a:avLst>
              <a:gd name="adj" fmla="val 33333"/>
            </a:avLst>
          </a:prstGeom>
          <a:solidFill>
            <a:srgbClr val="2E7D32"/>
          </a:solidFill>
          <a:ln w="12700">
            <a:solidFill>
              <a:srgbClr val="2E7D32"/>
            </a:solidFill>
            <a:prstDash val="solid"/>
          </a:ln>
        </p:spPr>
        <p:txBody>
          <a:bodyPr/>
          <a:lstStyle/>
          <a:p>
            <a:endParaRPr lang="zh-CN" altLang="en-US"/>
          </a:p>
        </p:txBody>
      </p:sp>
      <p:sp>
        <p:nvSpPr>
          <p:cNvPr id="29" name="Text 26"/>
          <p:cNvSpPr/>
          <p:nvPr/>
        </p:nvSpPr>
        <p:spPr>
          <a:xfrm>
            <a:off x="466344" y="4178808"/>
            <a:ext cx="16459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Text 27"/>
          <p:cNvSpPr/>
          <p:nvPr/>
        </p:nvSpPr>
        <p:spPr>
          <a:xfrm>
            <a:off x="685800" y="4069080"/>
            <a:ext cx="3749040" cy="219456"/>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Repeated Runs</a:t>
            </a:r>
            <a:endParaRPr lang="en-US" sz="1100" dirty="0"/>
          </a:p>
        </p:txBody>
      </p:sp>
      <p:sp>
        <p:nvSpPr>
          <p:cNvPr id="31" name="Text 28"/>
          <p:cNvSpPr/>
          <p:nvPr/>
        </p:nvSpPr>
        <p:spPr>
          <a:xfrm>
            <a:off x="685800" y="4297680"/>
            <a:ext cx="3749040" cy="292608"/>
          </a:xfrm>
          <a:prstGeom prst="rect">
            <a:avLst/>
          </a:prstGeom>
          <a:noFill/>
          <a:ln/>
        </p:spPr>
        <p:txBody>
          <a:bodyPr wrap="square" lIns="0" tIns="0" rIns="0" bIns="0" rtlCol="0" anchor="ctr"/>
          <a:lstStyle/>
          <a:p>
            <a:pPr marL="0" indent="0">
              <a:buNone/>
            </a:pPr>
            <a:r>
              <a:rPr lang="en-US" sz="950" dirty="0">
                <a:solidFill>
                  <a:srgbClr val="5C4A3A"/>
                </a:solidFill>
                <a:latin typeface="Calibri" pitchFamily="34" charset="0"/>
                <a:ea typeface="Calibri" pitchFamily="34" charset="-122"/>
                <a:cs typeface="Calibri" pitchFamily="34" charset="-120"/>
              </a:rPr>
              <a:t>3 runs per configuration</a:t>
            </a:r>
            <a:endParaRPr lang="en-US" sz="950" dirty="0"/>
          </a:p>
        </p:txBody>
      </p:sp>
      <p:sp>
        <p:nvSpPr>
          <p:cNvPr id="32" name="Shape 29"/>
          <p:cNvSpPr/>
          <p:nvPr/>
        </p:nvSpPr>
        <p:spPr>
          <a:xfrm>
            <a:off x="4572000" y="4023360"/>
            <a:ext cx="4069080" cy="603504"/>
          </a:xfrm>
          <a:prstGeom prst="roundRect">
            <a:avLst>
              <a:gd name="adj" fmla="val 12121"/>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33" name="Shape 30"/>
          <p:cNvSpPr/>
          <p:nvPr/>
        </p:nvSpPr>
        <p:spPr>
          <a:xfrm>
            <a:off x="4626864" y="4178808"/>
            <a:ext cx="164592" cy="292608"/>
          </a:xfrm>
          <a:prstGeom prst="roundRect">
            <a:avLst>
              <a:gd name="adj" fmla="val 33333"/>
            </a:avLst>
          </a:prstGeom>
          <a:solidFill>
            <a:srgbClr val="2E7D32"/>
          </a:solidFill>
          <a:ln w="12700">
            <a:solidFill>
              <a:srgbClr val="2E7D32"/>
            </a:solidFill>
            <a:prstDash val="solid"/>
          </a:ln>
        </p:spPr>
        <p:txBody>
          <a:bodyPr/>
          <a:lstStyle/>
          <a:p>
            <a:endParaRPr lang="zh-CN" altLang="en-US"/>
          </a:p>
        </p:txBody>
      </p:sp>
      <p:sp>
        <p:nvSpPr>
          <p:cNvPr id="34" name="Text 31"/>
          <p:cNvSpPr/>
          <p:nvPr/>
        </p:nvSpPr>
        <p:spPr>
          <a:xfrm>
            <a:off x="4626864" y="4178808"/>
            <a:ext cx="164592"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35" name="Text 32"/>
          <p:cNvSpPr/>
          <p:nvPr/>
        </p:nvSpPr>
        <p:spPr>
          <a:xfrm>
            <a:off x="4846320" y="4069080"/>
            <a:ext cx="3749040" cy="219456"/>
          </a:xfrm>
          <a:prstGeom prst="rect">
            <a:avLst/>
          </a:prstGeom>
          <a:noFill/>
          <a:ln/>
        </p:spPr>
        <p:txBody>
          <a:bodyPr wrap="square" lIns="0" tIns="0" rIns="0" bIns="0"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Resume Support</a:t>
            </a:r>
            <a:endParaRPr lang="en-US" sz="1100" dirty="0"/>
          </a:p>
        </p:txBody>
      </p:sp>
      <p:sp>
        <p:nvSpPr>
          <p:cNvPr id="36" name="Text 33"/>
          <p:cNvSpPr/>
          <p:nvPr/>
        </p:nvSpPr>
        <p:spPr>
          <a:xfrm>
            <a:off x="4846320" y="4297680"/>
            <a:ext cx="3749040" cy="292608"/>
          </a:xfrm>
          <a:prstGeom prst="rect">
            <a:avLst/>
          </a:prstGeom>
          <a:noFill/>
          <a:ln/>
        </p:spPr>
        <p:txBody>
          <a:bodyPr wrap="square" lIns="0" tIns="0" rIns="0" bIns="0" rtlCol="0" anchor="ctr"/>
          <a:lstStyle/>
          <a:p>
            <a:pPr marL="0" indent="0">
              <a:buNone/>
            </a:pPr>
            <a:r>
              <a:rPr lang="en-US" sz="950" dirty="0">
                <a:solidFill>
                  <a:srgbClr val="5C4A3A"/>
                </a:solidFill>
                <a:latin typeface="Calibri" pitchFamily="34" charset="0"/>
                <a:ea typeface="Calibri" pitchFamily="34" charset="-122"/>
                <a:cs typeface="Calibri" pitchFamily="34" charset="-120"/>
              </a:rPr>
              <a:t>Interrupted experiments resume from the exact request (per-request granularity)  ·  no data loss</a:t>
            </a:r>
            <a:endParaRPr lang="en-US" sz="950" dirty="0"/>
          </a:p>
        </p:txBody>
      </p:sp>
      <p:sp>
        <p:nvSpPr>
          <p:cNvPr id="38" name="Shape 4">
            <a:extLst>
              <a:ext uri="{FF2B5EF4-FFF2-40B4-BE49-F238E27FC236}">
                <a16:creationId xmlns:a16="http://schemas.microsoft.com/office/drawing/2014/main" id="{543F3296-8822-BB15-3920-CA80D879FC73}"/>
              </a:ext>
            </a:extLst>
          </p:cNvPr>
          <p:cNvSpPr/>
          <p:nvPr/>
        </p:nvSpPr>
        <p:spPr>
          <a:xfrm>
            <a:off x="466344" y="1338013"/>
            <a:ext cx="8174736" cy="1067562"/>
          </a:xfrm>
          <a:prstGeom prst="roundRect">
            <a:avLst>
              <a:gd name="adj" fmla="val 12121"/>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40" name="Text 8">
            <a:extLst>
              <a:ext uri="{FF2B5EF4-FFF2-40B4-BE49-F238E27FC236}">
                <a16:creationId xmlns:a16="http://schemas.microsoft.com/office/drawing/2014/main" id="{59C7FFAE-2C02-1F02-5B54-7C100A483956}"/>
              </a:ext>
            </a:extLst>
          </p:cNvPr>
          <p:cNvSpPr/>
          <p:nvPr/>
        </p:nvSpPr>
        <p:spPr>
          <a:xfrm>
            <a:off x="685799" y="1404308"/>
            <a:ext cx="7846255" cy="1192588"/>
          </a:xfrm>
          <a:prstGeom prst="rect">
            <a:avLst/>
          </a:prstGeom>
          <a:noFill/>
          <a:ln/>
        </p:spPr>
        <p:txBody>
          <a:bodyPr wrap="square" lIns="0" tIns="0" rIns="0" bIns="0" rtlCol="0" anchor="ctr"/>
          <a:lstStyle/>
          <a:p>
            <a:pPr marL="228600" indent="-228600" algn="l">
              <a:buFont typeface="+mj-lt"/>
              <a:buAutoNum type="arabicPeriod"/>
            </a:pPr>
            <a:r>
              <a:rPr lang="zh-CN" altLang="zh-CN" sz="1200" i="0" dirty="0">
                <a:effectLst/>
                <a:latin typeface="ui-sans-serif"/>
              </a:rPr>
              <a:t>Reproducibility: Locked API parameters (</a:t>
            </a:r>
            <a:r>
              <a:rPr lang="zh-CN" altLang="zh-CN" sz="1200" i="0" dirty="0">
                <a:effectLst/>
                <a:latin typeface="ui-monospace"/>
              </a:rPr>
              <a:t>temp=0</a:t>
            </a:r>
            <a:r>
              <a:rPr lang="zh-CN" altLang="zh-CN" sz="1200" i="0" dirty="0">
                <a:effectLst/>
                <a:latin typeface="ui-sans-serif"/>
              </a:rPr>
              <a:t>, </a:t>
            </a:r>
            <a:r>
              <a:rPr lang="zh-CN" altLang="zh-CN" sz="1200" i="0" dirty="0">
                <a:effectLst/>
                <a:latin typeface="ui-monospace"/>
              </a:rPr>
              <a:t>seed=42</a:t>
            </a:r>
            <a:r>
              <a:rPr lang="zh-CN" altLang="zh-CN" sz="1200" i="0" dirty="0">
                <a:effectLst/>
                <a:latin typeface="ui-sans-serif"/>
              </a:rPr>
              <a:t>) and a 3-request warmup protocol to eliminate JIT overhead.</a:t>
            </a:r>
          </a:p>
          <a:p>
            <a:pPr marL="228600" indent="-228600" algn="l">
              <a:buFont typeface="+mj-lt"/>
              <a:buAutoNum type="arabicPeriod"/>
            </a:pPr>
            <a:r>
              <a:rPr lang="zh-CN" altLang="zh-CN" sz="1200" i="0" dirty="0">
                <a:effectLst/>
                <a:latin typeface="ui-sans-serif"/>
              </a:rPr>
              <a:t>Data Purity: Subtracts a 60s idle baseline from energy readings, and applies Z-score filtration to exclude anomalous spikes.</a:t>
            </a:r>
          </a:p>
          <a:p>
            <a:pPr marL="228600" indent="-228600" algn="l">
              <a:buFont typeface="+mj-lt"/>
              <a:buAutoNum type="arabicPeriod"/>
            </a:pPr>
            <a:r>
              <a:rPr lang="zh-CN" altLang="zh-CN" sz="1200" i="0" dirty="0">
                <a:effectLst/>
                <a:latin typeface="ui-sans-serif"/>
              </a:rPr>
              <a:t>Execution Robustness: Ensures 3 independent runs per scenario (validated via Friedman test) with a per-request fault-tolerance resume mechanism</a:t>
            </a:r>
            <a:r>
              <a:rPr lang="zh-CN" altLang="zh-CN" sz="1200" i="0" dirty="0">
                <a:solidFill>
                  <a:srgbClr val="CCCCCC"/>
                </a:solidFill>
                <a:effectLst/>
                <a:latin typeface="ui-sans-serif"/>
              </a:rPr>
              <a:t>.</a:t>
            </a:r>
          </a:p>
          <a:p>
            <a:pPr marL="0" indent="0">
              <a:buNone/>
            </a:pP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lgn="l">
              <a:buNone/>
            </a:pPr>
            <a:r>
              <a:rPr lang="en-US" sz="2400" b="1" dirty="0">
                <a:solidFill>
                  <a:srgbClr val="B85042"/>
                </a:solidFill>
                <a:latin typeface="Cambria" pitchFamily="34" charset="0"/>
                <a:ea typeface="Cambria" pitchFamily="34" charset="-122"/>
                <a:cs typeface="Cambria" pitchFamily="34" charset="-120"/>
              </a:rPr>
              <a:t>Preliminary Results — Serial Scenario (Validation, 1 Run)</a:t>
            </a:r>
            <a:endParaRPr lang="en-US" sz="2400" dirty="0"/>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Text 2"/>
          <p:cNvSpPr/>
          <p:nvPr/>
        </p:nvSpPr>
        <p:spPr>
          <a:xfrm>
            <a:off x="411480" y="841248"/>
            <a:ext cx="8321040" cy="365760"/>
          </a:xfrm>
          <a:prstGeom prst="rect">
            <a:avLst/>
          </a:prstGeom>
          <a:noFill/>
          <a:ln/>
        </p:spPr>
        <p:txBody>
          <a:bodyPr wrap="square" lIns="0" tIns="0" rIns="0" bIns="0" rtlCol="0" anchor="ctr"/>
          <a:lstStyle/>
          <a:p>
            <a:pPr marL="0" indent="0">
              <a:buNone/>
            </a:pPr>
            <a:r>
              <a:rPr lang="en-US" sz="1100" i="1" dirty="0">
                <a:solidFill>
                  <a:srgbClr val="E65100"/>
                </a:solidFill>
                <a:latin typeface="Calibri" pitchFamily="34" charset="0"/>
                <a:ea typeface="Calibri" pitchFamily="34" charset="-122"/>
                <a:cs typeface="Calibri" pitchFamily="34" charset="-120"/>
              </a:rPr>
              <a:t>⚠  This is a single-run validation test to confirm the script works correctly — NOT the formal results. The full experiment (3 runs × 3 scenarios) is pending.</a:t>
            </a:r>
            <a:endParaRPr lang="en-US" sz="1100" dirty="0"/>
          </a:p>
        </p:txBody>
      </p:sp>
      <p:sp>
        <p:nvSpPr>
          <p:cNvPr id="6" name="Shape 3"/>
          <p:cNvSpPr/>
          <p:nvPr/>
        </p:nvSpPr>
        <p:spPr>
          <a:xfrm>
            <a:off x="365760" y="3752559"/>
            <a:ext cx="8503920" cy="731520"/>
          </a:xfrm>
          <a:prstGeom prst="roundRect">
            <a:avLst>
              <a:gd name="adj" fmla="val 4167"/>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7" name="Text 4"/>
          <p:cNvSpPr/>
          <p:nvPr/>
        </p:nvSpPr>
        <p:spPr>
          <a:xfrm>
            <a:off x="365760" y="3218688"/>
            <a:ext cx="8229600" cy="256032"/>
          </a:xfrm>
          <a:prstGeom prst="rect">
            <a:avLst/>
          </a:prstGeom>
          <a:noFill/>
          <a:ln/>
        </p:spPr>
        <p:txBody>
          <a:bodyPr wrap="square" rtlCol="0" anchor="ctr"/>
          <a:lstStyle/>
          <a:p>
            <a:pPr marL="0" indent="0">
              <a:buNone/>
            </a:pPr>
            <a:r>
              <a:rPr lang="zh-CN" altLang="zh-CN" sz="1400" b="1" dirty="0">
                <a:solidFill>
                  <a:srgbClr val="B85042"/>
                </a:solidFill>
                <a:latin typeface="Calibri" pitchFamily="34" charset="0"/>
                <a:cs typeface="Calibri" pitchFamily="34" charset="-120"/>
              </a:rPr>
              <a:t>Initial single-run validation confirms the integrity of the automation script and reveals early architectural and scaling trends prior to the full formal execution.</a:t>
            </a:r>
            <a:endParaRPr lang="en-US" sz="1400" b="1" dirty="0">
              <a:solidFill>
                <a:srgbClr val="B85042"/>
              </a:solidFill>
              <a:latin typeface="Calibri" pitchFamily="34" charset="0"/>
              <a:ea typeface="Calibri" pitchFamily="34" charset="-122"/>
              <a:cs typeface="Calibri" pitchFamily="34" charset="-120"/>
            </a:endParaRPr>
          </a:p>
        </p:txBody>
      </p:sp>
      <p:pic>
        <p:nvPicPr>
          <p:cNvPr id="13" name="Picture 12">
            <a:extLst>
              <a:ext uri="{FF2B5EF4-FFF2-40B4-BE49-F238E27FC236}">
                <a16:creationId xmlns:a16="http://schemas.microsoft.com/office/drawing/2014/main" id="{6777D9D5-9C15-AE15-B666-05803EF8B502}"/>
              </a:ext>
            </a:extLst>
          </p:cNvPr>
          <p:cNvPicPr>
            <a:picLocks noChangeAspect="1"/>
          </p:cNvPicPr>
          <p:nvPr/>
        </p:nvPicPr>
        <p:blipFill>
          <a:blip r:embed="rId3"/>
          <a:stretch>
            <a:fillRect/>
          </a:stretch>
        </p:blipFill>
        <p:spPr>
          <a:xfrm>
            <a:off x="365760" y="1352948"/>
            <a:ext cx="8321040" cy="1633622"/>
          </a:xfrm>
          <a:prstGeom prst="rect">
            <a:avLst/>
          </a:prstGeom>
        </p:spPr>
      </p:pic>
      <p:sp>
        <p:nvSpPr>
          <p:cNvPr id="14" name="Rectangle 13">
            <a:extLst>
              <a:ext uri="{FF2B5EF4-FFF2-40B4-BE49-F238E27FC236}">
                <a16:creationId xmlns:a16="http://schemas.microsoft.com/office/drawing/2014/main" id="{45B9F35D-EB2C-74B3-CD7B-70EE8359714F}"/>
              </a:ext>
            </a:extLst>
          </p:cNvPr>
          <p:cNvSpPr/>
          <p:nvPr/>
        </p:nvSpPr>
        <p:spPr>
          <a:xfrm>
            <a:off x="5261317" y="2286000"/>
            <a:ext cx="414997" cy="28575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15">
            <a:extLst>
              <a:ext uri="{FF2B5EF4-FFF2-40B4-BE49-F238E27FC236}">
                <a16:creationId xmlns:a16="http://schemas.microsoft.com/office/drawing/2014/main" id="{07D9981B-C467-0171-FAFF-EFE6D523AE52}"/>
              </a:ext>
            </a:extLst>
          </p:cNvPr>
          <p:cNvSpPr txBox="1"/>
          <p:nvPr/>
        </p:nvSpPr>
        <p:spPr>
          <a:xfrm>
            <a:off x="365760" y="3870472"/>
            <a:ext cx="8503920" cy="523220"/>
          </a:xfrm>
          <a:prstGeom prst="rect">
            <a:avLst/>
          </a:prstGeom>
          <a:noFill/>
        </p:spPr>
        <p:txBody>
          <a:bodyPr wrap="square">
            <a:spAutoFit/>
          </a:bodyPr>
          <a:lstStyle/>
          <a:p>
            <a:pPr algn="l"/>
            <a:r>
              <a:rPr lang="zh-CN" altLang="zh-CN" sz="1400" b="1" i="0" dirty="0">
                <a:effectLst/>
                <a:latin typeface="ui-sans-serif"/>
              </a:rPr>
              <a:t>Known Anomaly (Phi-3 RAM):</a:t>
            </a:r>
            <a:r>
              <a:rPr lang="zh-CN" altLang="zh-CN" sz="1400" b="0" i="0" dirty="0">
                <a:effectLst/>
                <a:latin typeface="ui-sans-serif"/>
              </a:rPr>
              <a:t> The 0.66GB reading is a known monitoring limitation (VRAM was missed during the model switch). This will be declared in the methodology and does not impact the validity of latency metrics.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7F3EE"/>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lgn="l">
              <a:buNone/>
            </a:pPr>
            <a:r>
              <a:rPr lang="en-US" sz="3000" b="1" dirty="0">
                <a:solidFill>
                  <a:srgbClr val="B85042"/>
                </a:solidFill>
                <a:latin typeface="Cambria" pitchFamily="34" charset="0"/>
                <a:ea typeface="Cambria" pitchFamily="34" charset="-122"/>
                <a:cs typeface="Cambria" pitchFamily="34" charset="-120"/>
              </a:rPr>
              <a:t>Tool Calling Evaluation — Rationale &amp; Design</a:t>
            </a:r>
            <a:endParaRPr lang="en-US" sz="3000" dirty="0"/>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Shape 2"/>
          <p:cNvSpPr/>
          <p:nvPr/>
        </p:nvSpPr>
        <p:spPr>
          <a:xfrm>
            <a:off x="320040" y="914400"/>
            <a:ext cx="4160520" cy="2221992"/>
          </a:xfrm>
          <a:prstGeom prst="roundRect">
            <a:avLst>
              <a:gd name="adj" fmla="val 3478"/>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5" name="Text 3"/>
          <p:cNvSpPr/>
          <p:nvPr/>
        </p:nvSpPr>
        <p:spPr>
          <a:xfrm>
            <a:off x="457200" y="969264"/>
            <a:ext cx="3840480" cy="274320"/>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Why Add Tool Calling?</a:t>
            </a:r>
            <a:endParaRPr lang="en-US" sz="1200" dirty="0"/>
          </a:p>
        </p:txBody>
      </p:sp>
      <p:sp>
        <p:nvSpPr>
          <p:cNvPr id="6" name="Text 4"/>
          <p:cNvSpPr/>
          <p:nvPr/>
        </p:nvSpPr>
        <p:spPr>
          <a:xfrm>
            <a:off x="457200" y="1261872"/>
            <a:ext cx="3886200" cy="1627632"/>
          </a:xfrm>
          <a:prstGeom prst="rect">
            <a:avLst/>
          </a:prstGeom>
          <a:noFill/>
          <a:ln/>
        </p:spPr>
        <p:txBody>
          <a:bodyPr wrap="square" rtlCol="0" anchor="t"/>
          <a:lstStyle/>
          <a:p>
            <a:pPr marL="342900" indent="-342900">
              <a:spcAft>
                <a:spcPts val="500"/>
              </a:spcAft>
              <a:buSzPct val="100000"/>
              <a:buChar char="•"/>
            </a:pPr>
            <a:r>
              <a:rPr lang="en-US" sz="1000" dirty="0">
                <a:solidFill>
                  <a:srgbClr val="5C4A3A"/>
                </a:solidFill>
                <a:latin typeface="Calibri" pitchFamily="34" charset="0"/>
                <a:ea typeface="Calibri" pitchFamily="34" charset="-122"/>
                <a:cs typeface="Calibri" pitchFamily="34" charset="-120"/>
              </a:rPr>
              <a:t>Tool calling distinguishes a language model from a deployable AI agent</a:t>
            </a:r>
            <a:endParaRPr lang="en-US" sz="1000" dirty="0"/>
          </a:p>
          <a:p>
            <a:pPr marL="342900" indent="-342900">
              <a:spcAft>
                <a:spcPts val="500"/>
              </a:spcAft>
              <a:buSzPct val="100000"/>
              <a:buChar char="•"/>
            </a:pPr>
            <a:r>
              <a:rPr lang="en-US" sz="1000" dirty="0">
                <a:solidFill>
                  <a:srgbClr val="5C4A3A"/>
                </a:solidFill>
                <a:latin typeface="Calibri" pitchFamily="34" charset="0"/>
                <a:ea typeface="Calibri" pitchFamily="34" charset="-122"/>
                <a:cs typeface="Calibri" pitchFamily="34" charset="-120"/>
              </a:rPr>
              <a:t>Critical for agentic local deployment (personal assistants, on-device automation)</a:t>
            </a:r>
            <a:endParaRPr lang="en-US" sz="1000" dirty="0"/>
          </a:p>
          <a:p>
            <a:pPr marL="342900" indent="-342900">
              <a:spcAft>
                <a:spcPts val="500"/>
              </a:spcAft>
              <a:buSzPct val="100000"/>
              <a:buChar char="•"/>
            </a:pPr>
            <a:r>
              <a:rPr lang="en-US" sz="1000" dirty="0">
                <a:solidFill>
                  <a:srgbClr val="5C4A3A"/>
                </a:solidFill>
                <a:latin typeface="Calibri" pitchFamily="34" charset="0"/>
                <a:ea typeface="Calibri" pitchFamily="34" charset="-122"/>
                <a:cs typeface="Calibri" pitchFamily="34" charset="-120"/>
              </a:rPr>
              <a:t>Key question: at what parameter scale does this capability emerge?</a:t>
            </a:r>
            <a:endParaRPr lang="en-US" sz="1000" dirty="0"/>
          </a:p>
          <a:p>
            <a:pPr marL="342900" indent="-342900">
              <a:spcAft>
                <a:spcPts val="500"/>
              </a:spcAft>
              <a:buSzPct val="100000"/>
              <a:buChar char="•"/>
            </a:pPr>
            <a:r>
              <a:rPr lang="en-US" sz="1000" dirty="0">
                <a:solidFill>
                  <a:srgbClr val="5C4A3A"/>
                </a:solidFill>
                <a:latin typeface="Calibri" pitchFamily="34" charset="0"/>
                <a:ea typeface="Calibri" pitchFamily="34" charset="-122"/>
                <a:cs typeface="Calibri" pitchFamily="34" charset="-120"/>
              </a:rPr>
              <a:t>Expected: 0.5B/1.1B may fail to produce valid JSON → recorded as 0, not skipped → evidence for a parameter-scale capability threshold</a:t>
            </a:r>
            <a:endParaRPr lang="en-US" sz="1000" dirty="0"/>
          </a:p>
        </p:txBody>
      </p:sp>
      <p:sp>
        <p:nvSpPr>
          <p:cNvPr id="7" name="Shape 5"/>
          <p:cNvSpPr/>
          <p:nvPr/>
        </p:nvSpPr>
        <p:spPr>
          <a:xfrm>
            <a:off x="4663440" y="914400"/>
            <a:ext cx="4160520" cy="2221992"/>
          </a:xfrm>
          <a:prstGeom prst="roundRect">
            <a:avLst>
              <a:gd name="adj" fmla="val 3478"/>
            </a:avLst>
          </a:prstGeom>
          <a:solidFill>
            <a:srgbClr val="E8DCC8"/>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8" name="Text 6"/>
          <p:cNvSpPr/>
          <p:nvPr/>
        </p:nvSpPr>
        <p:spPr>
          <a:xfrm>
            <a:off x="4800600" y="969264"/>
            <a:ext cx="3840480" cy="274320"/>
          </a:xfrm>
          <a:prstGeom prst="rect">
            <a:avLst/>
          </a:prstGeom>
          <a:noFill/>
          <a:ln/>
        </p:spPr>
        <p:txBody>
          <a:bodyPr wrap="square" rtlCol="0" anchor="ctr"/>
          <a:lstStyle/>
          <a:p>
            <a:pPr marL="0" indent="0">
              <a:buNone/>
            </a:pPr>
            <a:r>
              <a:rPr lang="en-US" sz="1200" b="1" dirty="0">
                <a:solidFill>
                  <a:srgbClr val="B85042"/>
                </a:solidFill>
                <a:latin typeface="Calibri" pitchFamily="34" charset="0"/>
                <a:ea typeface="Calibri" pitchFamily="34" charset="-122"/>
                <a:cs typeface="Calibri" pitchFamily="34" charset="-120"/>
              </a:rPr>
              <a:t>How It Works — Static Evaluation</a:t>
            </a:r>
            <a:endParaRPr lang="en-US" sz="1200" dirty="0"/>
          </a:p>
        </p:txBody>
      </p:sp>
      <p:sp>
        <p:nvSpPr>
          <p:cNvPr id="9" name="Text 7"/>
          <p:cNvSpPr/>
          <p:nvPr/>
        </p:nvSpPr>
        <p:spPr>
          <a:xfrm>
            <a:off x="4800600" y="1280160"/>
            <a:ext cx="3840480" cy="228600"/>
          </a:xfrm>
          <a:prstGeom prst="rect">
            <a:avLst/>
          </a:prstGeom>
          <a:noFill/>
          <a:ln/>
        </p:spPr>
        <p:txBody>
          <a:bodyPr wrap="square" rtlCol="0" anchor="ctr"/>
          <a:lstStyle/>
          <a:p>
            <a:pPr marL="0" indent="0">
              <a:buNone/>
            </a:pPr>
            <a:r>
              <a:rPr lang="en-US" sz="1050" b="1" dirty="0">
                <a:solidFill>
                  <a:srgbClr val="5C4A3A"/>
                </a:solidFill>
                <a:latin typeface="Calibri" pitchFamily="34" charset="0"/>
                <a:ea typeface="Calibri" pitchFamily="34" charset="-122"/>
                <a:cs typeface="Calibri" pitchFamily="34" charset="-120"/>
              </a:rPr>
              <a:t>Input: </a:t>
            </a:r>
            <a:r>
              <a:rPr lang="en-US" sz="1050" dirty="0">
                <a:solidFill>
                  <a:srgbClr val="5C4A3A"/>
                </a:solidFill>
                <a:latin typeface="Calibri" pitchFamily="34" charset="0"/>
                <a:ea typeface="Calibri" pitchFamily="34" charset="-122"/>
                <a:cs typeface="Calibri" pitchFamily="34" charset="-120"/>
              </a:rPr>
              <a:t>Question + Tool schema (JSON)</a:t>
            </a:r>
            <a:endParaRPr lang="en-US" sz="1050" dirty="0"/>
          </a:p>
        </p:txBody>
      </p:sp>
      <p:sp>
        <p:nvSpPr>
          <p:cNvPr id="10" name="Text 8"/>
          <p:cNvSpPr/>
          <p:nvPr/>
        </p:nvSpPr>
        <p:spPr>
          <a:xfrm>
            <a:off x="4800600" y="1508760"/>
            <a:ext cx="3840480" cy="384048"/>
          </a:xfrm>
          <a:prstGeom prst="rect">
            <a:avLst/>
          </a:prstGeom>
          <a:noFill/>
          <a:ln/>
        </p:spPr>
        <p:txBody>
          <a:bodyPr wrap="square" rtlCol="0" anchor="ctr"/>
          <a:lstStyle/>
          <a:p>
            <a:pPr marL="0" indent="0">
              <a:buNone/>
            </a:pPr>
            <a:r>
              <a:rPr lang="en-US" sz="1000" b="1" dirty="0">
                <a:solidFill>
                  <a:srgbClr val="5C4A3A"/>
                </a:solidFill>
                <a:latin typeface="Calibri" pitchFamily="34" charset="0"/>
                <a:ea typeface="Calibri" pitchFamily="34" charset="-122"/>
                <a:cs typeface="Calibri" pitchFamily="34" charset="-120"/>
              </a:rPr>
              <a:t>Model output:</a:t>
            </a:r>
            <a:endParaRPr lang="en-US" sz="1000" dirty="0"/>
          </a:p>
          <a:p>
            <a:pPr marL="0" indent="0">
              <a:buNone/>
            </a:pPr>
            <a:r>
              <a:rPr lang="en-US" sz="1000" i="1" dirty="0">
                <a:solidFill>
                  <a:srgbClr val="5C4A3A"/>
                </a:solidFill>
                <a:latin typeface="Calibri" pitchFamily="34" charset="0"/>
                <a:ea typeface="Calibri" pitchFamily="34" charset="-122"/>
                <a:cs typeface="Calibri" pitchFamily="34" charset="-120"/>
              </a:rPr>
              <a:t>{"name":"get_weather","arguments":{"city":"London"}}</a:t>
            </a:r>
            <a:endParaRPr lang="en-US" sz="1000" dirty="0"/>
          </a:p>
        </p:txBody>
      </p:sp>
      <p:sp>
        <p:nvSpPr>
          <p:cNvPr id="11" name="Text 9"/>
          <p:cNvSpPr/>
          <p:nvPr/>
        </p:nvSpPr>
        <p:spPr>
          <a:xfrm>
            <a:off x="4800600" y="1892808"/>
            <a:ext cx="3840480" cy="201168"/>
          </a:xfrm>
          <a:prstGeom prst="rect">
            <a:avLst/>
          </a:prstGeom>
          <a:noFill/>
          <a:ln/>
        </p:spPr>
        <p:txBody>
          <a:bodyPr wrap="square" rtlCol="0" anchor="ctr"/>
          <a:lstStyle/>
          <a:p>
            <a:pPr marL="0" indent="0">
              <a:buNone/>
            </a:pPr>
            <a:r>
              <a:rPr lang="en-US" sz="950" i="1" dirty="0">
                <a:solidFill>
                  <a:srgbClr val="8C7B6B"/>
                </a:solidFill>
                <a:latin typeface="Calibri" pitchFamily="34" charset="0"/>
                <a:ea typeface="Calibri" pitchFamily="34" charset="-122"/>
                <a:cs typeface="Calibri" pitchFamily="34" charset="-120"/>
              </a:rPr>
              <a:t>No real tool execution — purely static assessment</a:t>
            </a:r>
            <a:endParaRPr lang="en-US" sz="950" dirty="0"/>
          </a:p>
        </p:txBody>
      </p:sp>
      <p:sp>
        <p:nvSpPr>
          <p:cNvPr id="12" name="Text 10"/>
          <p:cNvSpPr/>
          <p:nvPr/>
        </p:nvSpPr>
        <p:spPr>
          <a:xfrm>
            <a:off x="4800600" y="2121408"/>
            <a:ext cx="3840480" cy="201168"/>
          </a:xfrm>
          <a:prstGeom prst="rect">
            <a:avLst/>
          </a:prstGeom>
          <a:noFill/>
          <a:ln/>
        </p:spPr>
        <p:txBody>
          <a:bodyPr wrap="square" rtlCol="0" anchor="ctr"/>
          <a:lstStyle/>
          <a:p>
            <a:pPr marL="0" indent="0">
              <a:buNone/>
            </a:pPr>
            <a:r>
              <a:rPr lang="en-US" sz="1100" b="1" dirty="0">
                <a:solidFill>
                  <a:srgbClr val="B85042"/>
                </a:solidFill>
                <a:latin typeface="Calibri" pitchFamily="34" charset="0"/>
                <a:ea typeface="Calibri" pitchFamily="34" charset="-122"/>
                <a:cs typeface="Calibri" pitchFamily="34" charset="-120"/>
              </a:rPr>
              <a:t>Three Metrics</a:t>
            </a:r>
            <a:endParaRPr lang="en-US" sz="1100" dirty="0"/>
          </a:p>
        </p:txBody>
      </p:sp>
      <p:sp>
        <p:nvSpPr>
          <p:cNvPr id="13" name="Text 11"/>
          <p:cNvSpPr/>
          <p:nvPr/>
        </p:nvSpPr>
        <p:spPr>
          <a:xfrm>
            <a:off x="4800600" y="2340864"/>
            <a:ext cx="3840480" cy="256032"/>
          </a:xfrm>
          <a:prstGeom prst="rect">
            <a:avLst/>
          </a:prstGeom>
          <a:noFill/>
          <a:ln/>
        </p:spPr>
        <p:txBody>
          <a:bodyPr wrap="square" lIns="0" tIns="0" rIns="0" bIns="0" rtlCol="0" anchor="ctr"/>
          <a:lstStyle/>
          <a:p>
            <a:pPr marL="0" indent="0">
              <a:buNone/>
            </a:pPr>
            <a:r>
              <a:rPr lang="en-US" sz="1000" dirty="0">
                <a:solidFill>
                  <a:srgbClr val="5C4A3A"/>
                </a:solidFill>
                <a:latin typeface="Calibri" pitchFamily="34" charset="0"/>
                <a:ea typeface="Calibri" pitchFamily="34" charset="-122"/>
                <a:cs typeface="Calibri" pitchFamily="34" charset="-120"/>
              </a:rPr>
              <a:t>▸  Tool-Selection Accuracy  —  Correct function chosen?</a:t>
            </a:r>
            <a:endParaRPr lang="en-US" sz="1000" dirty="0"/>
          </a:p>
        </p:txBody>
      </p:sp>
      <p:sp>
        <p:nvSpPr>
          <p:cNvPr id="14" name="Text 12"/>
          <p:cNvSpPr/>
          <p:nvPr/>
        </p:nvSpPr>
        <p:spPr>
          <a:xfrm>
            <a:off x="4800600" y="2633472"/>
            <a:ext cx="3840480" cy="256032"/>
          </a:xfrm>
          <a:prstGeom prst="rect">
            <a:avLst/>
          </a:prstGeom>
          <a:noFill/>
          <a:ln/>
        </p:spPr>
        <p:txBody>
          <a:bodyPr wrap="square" lIns="0" tIns="0" rIns="0" bIns="0" rtlCol="0" anchor="ctr"/>
          <a:lstStyle/>
          <a:p>
            <a:pPr marL="0" indent="0">
              <a:buNone/>
            </a:pPr>
            <a:r>
              <a:rPr lang="en-US" sz="1000" dirty="0">
                <a:solidFill>
                  <a:srgbClr val="5C4A3A"/>
                </a:solidFill>
                <a:latin typeface="Calibri" pitchFamily="34" charset="0"/>
                <a:ea typeface="Calibri" pitchFamily="34" charset="-122"/>
                <a:cs typeface="Calibri" pitchFamily="34" charset="-120"/>
              </a:rPr>
              <a:t>▸  Parameter Accuracy  —  Argument names &amp; values correct?</a:t>
            </a:r>
            <a:endParaRPr lang="en-US" sz="1000" dirty="0"/>
          </a:p>
        </p:txBody>
      </p:sp>
      <p:sp>
        <p:nvSpPr>
          <p:cNvPr id="15" name="Text 13"/>
          <p:cNvSpPr/>
          <p:nvPr/>
        </p:nvSpPr>
        <p:spPr>
          <a:xfrm>
            <a:off x="4800600" y="2926080"/>
            <a:ext cx="3840480" cy="256032"/>
          </a:xfrm>
          <a:prstGeom prst="rect">
            <a:avLst/>
          </a:prstGeom>
          <a:noFill/>
          <a:ln/>
        </p:spPr>
        <p:txBody>
          <a:bodyPr wrap="square" lIns="0" tIns="0" rIns="0" bIns="0" rtlCol="0" anchor="ctr"/>
          <a:lstStyle/>
          <a:p>
            <a:pPr marL="0" indent="0">
              <a:buNone/>
            </a:pPr>
            <a:r>
              <a:rPr lang="en-US" sz="1000" dirty="0">
                <a:solidFill>
                  <a:srgbClr val="5C4A3A"/>
                </a:solidFill>
                <a:latin typeface="Calibri" pitchFamily="34" charset="0"/>
                <a:ea typeface="Calibri" pitchFamily="34" charset="-122"/>
                <a:cs typeface="Calibri" pitchFamily="34" charset="-120"/>
              </a:rPr>
              <a:t>▸  JSON Compliance Rate  —  Output is valid, parseable JSON?</a:t>
            </a:r>
            <a:endParaRPr lang="en-US" sz="1000" dirty="0"/>
          </a:p>
        </p:txBody>
      </p:sp>
      <p:sp>
        <p:nvSpPr>
          <p:cNvPr id="16" name="Shape 14"/>
          <p:cNvSpPr/>
          <p:nvPr/>
        </p:nvSpPr>
        <p:spPr>
          <a:xfrm>
            <a:off x="320040" y="3200400"/>
            <a:ext cx="8503920" cy="1737360"/>
          </a:xfrm>
          <a:prstGeom prst="roundRect">
            <a:avLst>
              <a:gd name="adj" fmla="val 4040"/>
            </a:avLst>
          </a:prstGeom>
          <a:solidFill>
            <a:srgbClr val="EDE4D6"/>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7" name="Text 15"/>
          <p:cNvSpPr/>
          <p:nvPr/>
        </p:nvSpPr>
        <p:spPr>
          <a:xfrm>
            <a:off x="457200" y="3172968"/>
            <a:ext cx="1828800" cy="256032"/>
          </a:xfrm>
          <a:prstGeom prst="rect">
            <a:avLst/>
          </a:prstGeom>
          <a:noFill/>
          <a:ln/>
        </p:spPr>
        <p:txBody>
          <a:bodyPr wrap="square" rtlCol="0" anchor="ctr"/>
          <a:lstStyle/>
          <a:p>
            <a:pPr marL="0" indent="0">
              <a:buNone/>
            </a:pPr>
            <a:r>
              <a:rPr lang="en-US" sz="1150" b="1" dirty="0">
                <a:solidFill>
                  <a:srgbClr val="B85042"/>
                </a:solidFill>
                <a:latin typeface="Calibri" pitchFamily="34" charset="0"/>
                <a:ea typeface="Calibri" pitchFamily="34" charset="-122"/>
                <a:cs typeface="Calibri" pitchFamily="34" charset="-120"/>
              </a:rPr>
              <a:t>Dataset &amp; Scope</a:t>
            </a:r>
            <a:endParaRPr lang="en-US" sz="1150" dirty="0"/>
          </a:p>
        </p:txBody>
      </p:sp>
      <p:sp>
        <p:nvSpPr>
          <p:cNvPr id="18" name="Text 16"/>
          <p:cNvSpPr/>
          <p:nvPr/>
        </p:nvSpPr>
        <p:spPr>
          <a:xfrm>
            <a:off x="457200" y="3456432"/>
            <a:ext cx="8229600" cy="1417320"/>
          </a:xfrm>
          <a:prstGeom prst="rect">
            <a:avLst/>
          </a:prstGeom>
          <a:noFill/>
          <a:ln/>
        </p:spPr>
        <p:txBody>
          <a:bodyPr wrap="square" rtlCol="0" anchor="t"/>
          <a:lstStyle/>
          <a:p>
            <a:pPr marL="342900" indent="-342900">
              <a:spcAft>
                <a:spcPts val="500"/>
              </a:spcAft>
              <a:buSzPct val="100000"/>
              <a:buChar char="•"/>
            </a:pPr>
            <a:r>
              <a:rPr lang="en-US" sz="1200" dirty="0">
                <a:solidFill>
                  <a:srgbClr val="5C4A3A"/>
                </a:solidFill>
                <a:latin typeface="Calibri" pitchFamily="34" charset="0"/>
                <a:ea typeface="Calibri" pitchFamily="34" charset="-122"/>
                <a:cs typeface="Calibri" pitchFamily="34" charset="-120"/>
              </a:rPr>
              <a:t>Dataset: BFCL (Berkeley Function Calling Leaderboard)  —  most authoritative tool-calling benchmark; pip-installable</a:t>
            </a:r>
            <a:endParaRPr lang="en-US" sz="1200" dirty="0"/>
          </a:p>
          <a:p>
            <a:pPr marL="342900" indent="-342900">
              <a:spcAft>
                <a:spcPts val="500"/>
              </a:spcAft>
              <a:buSzPct val="100000"/>
              <a:buChar char="•"/>
            </a:pPr>
            <a:r>
              <a:rPr lang="en-US" sz="1200" dirty="0">
                <a:solidFill>
                  <a:srgbClr val="5C4A3A"/>
                </a:solidFill>
                <a:latin typeface="Calibri" pitchFamily="34" charset="0"/>
                <a:ea typeface="Calibri" pitchFamily="34" charset="-122"/>
                <a:cs typeface="Calibri" pitchFamily="34" charset="-120"/>
              </a:rPr>
              <a:t>Scenario: Serial only  —  tool-calling tests capability, not sustained-load performance; single-token JSON output makes throughput/energy measurement meaningless</a:t>
            </a:r>
            <a:endParaRPr lang="en-US" sz="1200" dirty="0"/>
          </a:p>
          <a:p>
            <a:pPr marL="342900" indent="-342900">
              <a:spcAft>
                <a:spcPts val="500"/>
              </a:spcAft>
              <a:buSzPct val="100000"/>
              <a:buChar char="•"/>
            </a:pPr>
            <a:r>
              <a:rPr lang="en-US" sz="1200" dirty="0">
                <a:solidFill>
                  <a:srgbClr val="5C4A3A"/>
                </a:solidFill>
                <a:latin typeface="Calibri" pitchFamily="34" charset="0"/>
                <a:ea typeface="Calibri" pitchFamily="34" charset="-122"/>
                <a:cs typeface="Calibri" pitchFamily="34" charset="-120"/>
              </a:rPr>
              <a:t>Script: bfcl_eval.py  —  to be developed; results merged into Capability dimension alongside lm-eval accuracy scores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2C181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66928"/>
          </a:xfrm>
          <a:prstGeom prst="rect">
            <a:avLst/>
          </a:prstGeom>
          <a:noFill/>
          <a:ln/>
        </p:spPr>
        <p:txBody>
          <a:bodyPr wrap="square" lIns="0" tIns="0" rIns="0" bIns="0" rtlCol="0" anchor="ctr"/>
          <a:lstStyle/>
          <a:p>
            <a:pPr marL="0" indent="0" algn="l">
              <a:buNone/>
            </a:pPr>
            <a:r>
              <a:rPr lang="en-US" sz="3000" b="1" dirty="0">
                <a:solidFill>
                  <a:srgbClr val="F0C080"/>
                </a:solidFill>
                <a:latin typeface="Cambria" pitchFamily="34" charset="0"/>
                <a:ea typeface="Cambria" pitchFamily="34" charset="-122"/>
                <a:cs typeface="Cambria" pitchFamily="34" charset="-120"/>
              </a:rPr>
              <a:t>Next Steps &amp; Timeline</a:t>
            </a:r>
            <a:endParaRPr lang="en-US" sz="3000" dirty="0"/>
          </a:p>
        </p:txBody>
      </p:sp>
      <p:sp>
        <p:nvSpPr>
          <p:cNvPr id="3" name="Shape 1"/>
          <p:cNvSpPr/>
          <p:nvPr/>
        </p:nvSpPr>
        <p:spPr>
          <a:xfrm>
            <a:off x="411480" y="749808"/>
            <a:ext cx="8321040" cy="22860"/>
          </a:xfrm>
          <a:prstGeom prst="rect">
            <a:avLst/>
          </a:prstGeom>
          <a:solidFill>
            <a:srgbClr val="D4813A"/>
          </a:solidFill>
          <a:ln w="12700">
            <a:solidFill>
              <a:srgbClr val="D4813A"/>
            </a:solidFill>
            <a:prstDash val="solid"/>
          </a:ln>
        </p:spPr>
        <p:txBody>
          <a:bodyPr/>
          <a:lstStyle/>
          <a:p>
            <a:endParaRPr lang="zh-CN" altLang="en-US"/>
          </a:p>
        </p:txBody>
      </p:sp>
      <p:sp>
        <p:nvSpPr>
          <p:cNvPr id="4" name="Shape 2"/>
          <p:cNvSpPr/>
          <p:nvPr/>
        </p:nvSpPr>
        <p:spPr>
          <a:xfrm>
            <a:off x="6858000" y="2286000"/>
            <a:ext cx="3200400" cy="3200400"/>
          </a:xfrm>
          <a:prstGeom prst="ellipse">
            <a:avLst/>
          </a:prstGeom>
          <a:solidFill>
            <a:srgbClr val="B85042">
              <a:alpha val="20000"/>
            </a:srgbClr>
          </a:solidFill>
          <a:ln w="12700">
            <a:solidFill>
              <a:srgbClr val="B85042">
                <a:alpha val="20000"/>
              </a:srgbClr>
            </a:solidFill>
            <a:prstDash val="solid"/>
          </a:ln>
        </p:spPr>
        <p:txBody>
          <a:bodyPr/>
          <a:lstStyle/>
          <a:p>
            <a:endParaRPr lang="zh-CN" altLang="en-US"/>
          </a:p>
        </p:txBody>
      </p:sp>
      <p:sp>
        <p:nvSpPr>
          <p:cNvPr id="5" name="Shape 3"/>
          <p:cNvSpPr/>
          <p:nvPr/>
        </p:nvSpPr>
        <p:spPr>
          <a:xfrm>
            <a:off x="320040" y="960120"/>
            <a:ext cx="8046720" cy="1143000"/>
          </a:xfrm>
          <a:prstGeom prst="roundRect">
            <a:avLst>
              <a:gd name="adj" fmla="val 6400"/>
            </a:avLst>
          </a:prstGeom>
          <a:solidFill>
            <a:srgbClr val="3D2315"/>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6" name="Shape 4"/>
          <p:cNvSpPr/>
          <p:nvPr/>
        </p:nvSpPr>
        <p:spPr>
          <a:xfrm>
            <a:off x="320040" y="960120"/>
            <a:ext cx="8046720" cy="1143000"/>
          </a:xfrm>
          <a:prstGeom prst="roundRect">
            <a:avLst>
              <a:gd name="adj" fmla="val 6400"/>
            </a:avLst>
          </a:prstGeom>
          <a:solidFill>
            <a:srgbClr val="3D2315"/>
          </a:solidFill>
          <a:ln w="10160">
            <a:solidFill>
              <a:srgbClr val="D4813A"/>
            </a:solidFill>
            <a:prstDash val="solid"/>
          </a:ln>
        </p:spPr>
        <p:txBody>
          <a:bodyPr/>
          <a:lstStyle/>
          <a:p>
            <a:endParaRPr lang="zh-CN" altLang="en-US"/>
          </a:p>
        </p:txBody>
      </p:sp>
      <p:sp>
        <p:nvSpPr>
          <p:cNvPr id="7" name="Text 5"/>
          <p:cNvSpPr/>
          <p:nvPr/>
        </p:nvSpPr>
        <p:spPr>
          <a:xfrm>
            <a:off x="457200" y="1051560"/>
            <a:ext cx="1828800" cy="274320"/>
          </a:xfrm>
          <a:prstGeom prst="rect">
            <a:avLst/>
          </a:prstGeom>
          <a:noFill/>
          <a:ln/>
        </p:spPr>
        <p:txBody>
          <a:bodyPr wrap="square" lIns="0" tIns="0" rIns="0" bIns="0" rtlCol="0" anchor="ctr"/>
          <a:lstStyle/>
          <a:p>
            <a:pPr marL="0" indent="0">
              <a:buNone/>
            </a:pPr>
            <a:r>
              <a:rPr lang="en-US" sz="1200" b="1" dirty="0">
                <a:solidFill>
                  <a:srgbClr val="F0C080"/>
                </a:solidFill>
                <a:latin typeface="Calibri" pitchFamily="34" charset="0"/>
                <a:ea typeface="Calibri" pitchFamily="34" charset="-122"/>
                <a:cs typeface="Calibri" pitchFamily="34" charset="-120"/>
              </a:rPr>
              <a:t> This Week</a:t>
            </a:r>
            <a:endParaRPr lang="en-US" sz="1200" dirty="0"/>
          </a:p>
        </p:txBody>
      </p:sp>
      <p:sp>
        <p:nvSpPr>
          <p:cNvPr id="8" name="Text 6"/>
          <p:cNvSpPr/>
          <p:nvPr/>
        </p:nvSpPr>
        <p:spPr>
          <a:xfrm>
            <a:off x="457200" y="1074420"/>
            <a:ext cx="7772400" cy="685800"/>
          </a:xfrm>
          <a:prstGeom prst="rect">
            <a:avLst/>
          </a:prstGeom>
          <a:noFill/>
          <a:ln/>
        </p:spPr>
        <p:txBody>
          <a:bodyPr wrap="square" lIns="0" tIns="0" rIns="0" bIns="0" rtlCol="0" anchor="ctr"/>
          <a:lstStyle/>
          <a:p>
            <a:pPr marL="0" indent="0">
              <a:buNone/>
            </a:pPr>
            <a:r>
              <a:rPr lang="en-US" sz="1100" dirty="0">
                <a:solidFill>
                  <a:srgbClr val="F7F3EE"/>
                </a:solidFill>
                <a:latin typeface="Calibri" pitchFamily="34" charset="0"/>
                <a:ea typeface="Calibri" pitchFamily="34" charset="-122"/>
                <a:cs typeface="Calibri" pitchFamily="34" charset="-120"/>
              </a:rPr>
              <a:t>Run benchmark_eval.py full experiment (3 runs × 3 scenarios × 5 models, ~3–4 hours)</a:t>
            </a:r>
            <a:endParaRPr lang="en-US" sz="1100" dirty="0"/>
          </a:p>
        </p:txBody>
      </p:sp>
      <p:sp>
        <p:nvSpPr>
          <p:cNvPr id="9" name="Shape 7"/>
          <p:cNvSpPr/>
          <p:nvPr/>
        </p:nvSpPr>
        <p:spPr>
          <a:xfrm>
            <a:off x="320040" y="2221992"/>
            <a:ext cx="8046720" cy="1143000"/>
          </a:xfrm>
          <a:prstGeom prst="roundRect">
            <a:avLst>
              <a:gd name="adj" fmla="val 6400"/>
            </a:avLst>
          </a:prstGeom>
          <a:solidFill>
            <a:srgbClr val="3D2315"/>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a:p>
        </p:txBody>
      </p:sp>
      <p:sp>
        <p:nvSpPr>
          <p:cNvPr id="10" name="Shape 8"/>
          <p:cNvSpPr/>
          <p:nvPr/>
        </p:nvSpPr>
        <p:spPr>
          <a:xfrm>
            <a:off x="320040" y="2221992"/>
            <a:ext cx="8046720" cy="1143000"/>
          </a:xfrm>
          <a:prstGeom prst="roundRect">
            <a:avLst>
              <a:gd name="adj" fmla="val 6400"/>
            </a:avLst>
          </a:prstGeom>
          <a:solidFill>
            <a:srgbClr val="3D2315"/>
          </a:solidFill>
          <a:ln w="10160">
            <a:solidFill>
              <a:srgbClr val="D4813A"/>
            </a:solidFill>
            <a:prstDash val="solid"/>
          </a:ln>
        </p:spPr>
        <p:txBody>
          <a:bodyPr/>
          <a:lstStyle/>
          <a:p>
            <a:endParaRPr lang="zh-CN" altLang="en-US"/>
          </a:p>
        </p:txBody>
      </p:sp>
      <p:sp>
        <p:nvSpPr>
          <p:cNvPr id="11" name="Text 9"/>
          <p:cNvSpPr/>
          <p:nvPr/>
        </p:nvSpPr>
        <p:spPr>
          <a:xfrm>
            <a:off x="457200" y="2313432"/>
            <a:ext cx="1828800" cy="274320"/>
          </a:xfrm>
          <a:prstGeom prst="rect">
            <a:avLst/>
          </a:prstGeom>
          <a:noFill/>
          <a:ln/>
        </p:spPr>
        <p:txBody>
          <a:bodyPr wrap="square" lIns="0" tIns="0" rIns="0" bIns="0" rtlCol="0" anchor="ctr"/>
          <a:lstStyle/>
          <a:p>
            <a:pPr marL="0" indent="0">
              <a:buNone/>
            </a:pPr>
            <a:r>
              <a:rPr lang="en-US" sz="1200" b="1" dirty="0">
                <a:solidFill>
                  <a:srgbClr val="F0C080"/>
                </a:solidFill>
                <a:latin typeface="Calibri" pitchFamily="34" charset="0"/>
                <a:ea typeface="Calibri" pitchFamily="34" charset="-122"/>
                <a:cs typeface="Calibri" pitchFamily="34" charset="-120"/>
              </a:rPr>
              <a:t> Next Week</a:t>
            </a:r>
            <a:endParaRPr lang="en-US" sz="1200" dirty="0"/>
          </a:p>
        </p:txBody>
      </p:sp>
      <p:sp>
        <p:nvSpPr>
          <p:cNvPr id="12" name="Text 10"/>
          <p:cNvSpPr/>
          <p:nvPr/>
        </p:nvSpPr>
        <p:spPr>
          <a:xfrm>
            <a:off x="457200" y="1362456"/>
            <a:ext cx="7772400" cy="685800"/>
          </a:xfrm>
          <a:prstGeom prst="rect">
            <a:avLst/>
          </a:prstGeom>
          <a:noFill/>
          <a:ln/>
        </p:spPr>
        <p:txBody>
          <a:bodyPr wrap="square" lIns="0" tIns="0" rIns="0" bIns="0" rtlCol="0" anchor="ctr"/>
          <a:lstStyle/>
          <a:p>
            <a:pPr marL="0" indent="0">
              <a:buNone/>
            </a:pPr>
            <a:r>
              <a:rPr lang="en-US" sz="1100" dirty="0">
                <a:solidFill>
                  <a:srgbClr val="F7F3EE"/>
                </a:solidFill>
                <a:latin typeface="Calibri" pitchFamily="34" charset="0"/>
                <a:ea typeface="Calibri" pitchFamily="34" charset="-122"/>
                <a:cs typeface="Calibri" pitchFamily="34" charset="-120"/>
              </a:rPr>
              <a:t>lm-evaluation-harness: MMLU · GSM8K · ARC · HellaSwag for all 5 models</a:t>
            </a:r>
            <a:endParaRPr lang="en-US" sz="1100" dirty="0"/>
          </a:p>
          <a:p>
            <a:pPr marL="0" indent="0">
              <a:buNone/>
            </a:pPr>
            <a:r>
              <a:rPr lang="en-US" sz="1100" dirty="0">
                <a:solidFill>
                  <a:srgbClr val="F7F3EE"/>
                </a:solidFill>
                <a:latin typeface="Calibri" pitchFamily="34" charset="0"/>
                <a:ea typeface="Calibri" pitchFamily="34" charset="-122"/>
                <a:cs typeface="Calibri" pitchFamily="34" charset="-120"/>
              </a:rPr>
              <a:t>Develop and run bfcl_eval.py (BFCL tool-calling evaluation)</a:t>
            </a:r>
            <a:endParaRPr lang="en-US" sz="1100" dirty="0"/>
          </a:p>
        </p:txBody>
      </p:sp>
      <p:sp>
        <p:nvSpPr>
          <p:cNvPr id="13" name="Shape 11"/>
          <p:cNvSpPr/>
          <p:nvPr/>
        </p:nvSpPr>
        <p:spPr>
          <a:xfrm>
            <a:off x="320040" y="3483864"/>
            <a:ext cx="8046720" cy="1143000"/>
          </a:xfrm>
          <a:prstGeom prst="roundRect">
            <a:avLst>
              <a:gd name="adj" fmla="val 6400"/>
            </a:avLst>
          </a:prstGeom>
          <a:solidFill>
            <a:srgbClr val="3D2315"/>
          </a:solidFill>
          <a:ln w="6350">
            <a:solidFill>
              <a:srgbClr val="D4813A"/>
            </a:solidFill>
            <a:prstDash val="solid"/>
          </a:ln>
          <a:effectLst>
            <a:outerShdw blurRad="63500" dist="25400" dir="2700000" algn="bl" rotWithShape="0">
              <a:srgbClr val="000000">
                <a:alpha val="10000"/>
              </a:srgbClr>
            </a:outerShdw>
          </a:effectLst>
        </p:spPr>
        <p:txBody>
          <a:bodyPr/>
          <a:lstStyle/>
          <a:p>
            <a:endParaRPr lang="zh-CN" altLang="en-US" dirty="0"/>
          </a:p>
        </p:txBody>
      </p:sp>
      <p:sp>
        <p:nvSpPr>
          <p:cNvPr id="15" name="Text 13"/>
          <p:cNvSpPr/>
          <p:nvPr/>
        </p:nvSpPr>
        <p:spPr>
          <a:xfrm>
            <a:off x="457200" y="3575304"/>
            <a:ext cx="1828800" cy="274320"/>
          </a:xfrm>
          <a:prstGeom prst="rect">
            <a:avLst/>
          </a:prstGeom>
          <a:noFill/>
          <a:ln/>
        </p:spPr>
        <p:txBody>
          <a:bodyPr wrap="square" lIns="0" tIns="0" rIns="0" bIns="0" rtlCol="0" anchor="ctr"/>
          <a:lstStyle/>
          <a:p>
            <a:pPr marL="0" indent="0">
              <a:buNone/>
            </a:pPr>
            <a:r>
              <a:rPr lang="en-US" sz="1200" b="1" dirty="0">
                <a:solidFill>
                  <a:srgbClr val="F0C080"/>
                </a:solidFill>
                <a:latin typeface="Calibri" pitchFamily="34" charset="0"/>
                <a:ea typeface="Calibri" pitchFamily="34" charset="-122"/>
                <a:cs typeface="Calibri" pitchFamily="34" charset="-120"/>
              </a:rPr>
              <a:t>After That</a:t>
            </a:r>
            <a:endParaRPr lang="en-US" sz="1200" dirty="0"/>
          </a:p>
        </p:txBody>
      </p:sp>
      <p:sp>
        <p:nvSpPr>
          <p:cNvPr id="16" name="Text 14"/>
          <p:cNvSpPr/>
          <p:nvPr/>
        </p:nvSpPr>
        <p:spPr>
          <a:xfrm>
            <a:off x="594360" y="2566826"/>
            <a:ext cx="7772400" cy="685800"/>
          </a:xfrm>
          <a:prstGeom prst="rect">
            <a:avLst/>
          </a:prstGeom>
          <a:noFill/>
          <a:ln/>
        </p:spPr>
        <p:txBody>
          <a:bodyPr wrap="square" lIns="0" tIns="0" rIns="0" bIns="0" rtlCol="0" anchor="ctr"/>
          <a:lstStyle/>
          <a:p>
            <a:pPr marL="0" indent="0">
              <a:buNone/>
            </a:pPr>
            <a:r>
              <a:rPr lang="en-US" sz="1100" dirty="0">
                <a:solidFill>
                  <a:srgbClr val="F7F3EE"/>
                </a:solidFill>
                <a:latin typeface="Calibri" pitchFamily="34" charset="0"/>
                <a:ea typeface="Calibri" pitchFamily="34" charset="-122"/>
                <a:cs typeface="Calibri" pitchFamily="34" charset="-120"/>
              </a:rPr>
              <a:t>analysis.ipynb: data analysis, visualisation, statistical tests</a:t>
            </a:r>
            <a:endParaRPr lang="en-US" sz="1100" dirty="0"/>
          </a:p>
          <a:p>
            <a:pPr marL="0" indent="0">
              <a:buNone/>
            </a:pPr>
            <a:endParaRPr lang="en-US" sz="1100" dirty="0"/>
          </a:p>
        </p:txBody>
      </p:sp>
      <p:sp>
        <p:nvSpPr>
          <p:cNvPr id="20" name="TextBox 19">
            <a:extLst>
              <a:ext uri="{FF2B5EF4-FFF2-40B4-BE49-F238E27FC236}">
                <a16:creationId xmlns:a16="http://schemas.microsoft.com/office/drawing/2014/main" id="{2D1C085C-5324-D648-E905-93A065816867}"/>
              </a:ext>
            </a:extLst>
          </p:cNvPr>
          <p:cNvSpPr txBox="1"/>
          <p:nvPr/>
        </p:nvSpPr>
        <p:spPr>
          <a:xfrm>
            <a:off x="457200" y="3968496"/>
            <a:ext cx="7360920" cy="261610"/>
          </a:xfrm>
          <a:prstGeom prst="rect">
            <a:avLst/>
          </a:prstGeom>
          <a:noFill/>
        </p:spPr>
        <p:txBody>
          <a:bodyPr wrap="square" rtlCol="0">
            <a:spAutoFit/>
          </a:bodyPr>
          <a:lstStyle/>
          <a:p>
            <a:r>
              <a:rPr lang="en-US" altLang="zh-CN" sz="1100" dirty="0" err="1">
                <a:solidFill>
                  <a:srgbClr val="F7F3EE"/>
                </a:solidFill>
                <a:latin typeface="Calibri" pitchFamily="34" charset="0"/>
                <a:ea typeface="Calibri" pitchFamily="34" charset="-122"/>
                <a:cs typeface="Calibri" pitchFamily="34" charset="-120"/>
              </a:rPr>
              <a:t>LoRA</a:t>
            </a:r>
            <a:r>
              <a:rPr lang="en-US" altLang="zh-CN" sz="1100" dirty="0">
                <a:solidFill>
                  <a:srgbClr val="F7F3EE"/>
                </a:solidFill>
                <a:latin typeface="Calibri" pitchFamily="34" charset="0"/>
                <a:ea typeface="Calibri" pitchFamily="34" charset="-122"/>
                <a:cs typeface="Calibri" pitchFamily="34" charset="-120"/>
              </a:rPr>
              <a:t> fine-tuning exploration (if time permits)</a:t>
            </a:r>
            <a:endParaRPr lang="zh-CN" altLang="en-US" sz="1100" dirty="0">
              <a:solidFill>
                <a:srgbClr val="F7F3EE"/>
              </a:solidFill>
              <a:latin typeface="Calibri" pitchFamily="34" charset="0"/>
              <a:cs typeface="Calibri"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543</TotalTime>
  <Words>3607</Words>
  <Application>Microsoft Office PowerPoint</Application>
  <PresentationFormat>On-screen Show (16:9)</PresentationFormat>
  <Paragraphs>255</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ui-monospace</vt:lpstr>
      <vt:lpstr>ui-sans-serif</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SLM Evaluation — Progress Update</dc:title>
  <dc:subject>PptxGenJS Presentation</dc:subject>
  <dc:creator>Runnan Feng</dc:creator>
  <cp:lastModifiedBy>Runan Feng (PGT)</cp:lastModifiedBy>
  <cp:revision>5</cp:revision>
  <dcterms:created xsi:type="dcterms:W3CDTF">2026-06-16T08:40:04Z</dcterms:created>
  <dcterms:modified xsi:type="dcterms:W3CDTF">2026-06-16T17:45:17Z</dcterms:modified>
</cp:coreProperties>
</file>